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810" r:id="rId2"/>
  </p:sldMasterIdLst>
  <p:notesMasterIdLst>
    <p:notesMasterId r:id="rId32"/>
  </p:notesMasterIdLst>
  <p:sldIdLst>
    <p:sldId id="303" r:id="rId3"/>
    <p:sldId id="256" r:id="rId4"/>
    <p:sldId id="291" r:id="rId5"/>
    <p:sldId id="293" r:id="rId6"/>
    <p:sldId id="286" r:id="rId7"/>
    <p:sldId id="296" r:id="rId8"/>
    <p:sldId id="259" r:id="rId9"/>
    <p:sldId id="278" r:id="rId10"/>
    <p:sldId id="275" r:id="rId11"/>
    <p:sldId id="276" r:id="rId12"/>
    <p:sldId id="260" r:id="rId13"/>
    <p:sldId id="277" r:id="rId14"/>
    <p:sldId id="282" r:id="rId15"/>
    <p:sldId id="283" r:id="rId16"/>
    <p:sldId id="262" r:id="rId17"/>
    <p:sldId id="263" r:id="rId18"/>
    <p:sldId id="280" r:id="rId19"/>
    <p:sldId id="281" r:id="rId20"/>
    <p:sldId id="264" r:id="rId21"/>
    <p:sldId id="265" r:id="rId22"/>
    <p:sldId id="270" r:id="rId23"/>
    <p:sldId id="295" r:id="rId24"/>
    <p:sldId id="266" r:id="rId25"/>
    <p:sldId id="300" r:id="rId26"/>
    <p:sldId id="301" r:id="rId27"/>
    <p:sldId id="302" r:id="rId28"/>
    <p:sldId id="268" r:id="rId29"/>
    <p:sldId id="269" r:id="rId30"/>
    <p:sldId id="298" r:id="rId31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5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51F2BE-08E9-4BDF-BE7E-29F21545D1A9}" type="doc">
      <dgm:prSet loTypeId="urn:microsoft.com/office/officeart/2005/8/layout/vList2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E20DC079-30CA-40E7-8641-870691339511}">
      <dgm:prSet custT="1"/>
      <dgm:spPr/>
      <dgm:t>
        <a:bodyPr/>
        <a:lstStyle/>
        <a:p>
          <a:pPr algn="ctr" rtl="0"/>
          <a:r>
            <a:rPr lang="ru-RU" sz="2000" b="1" dirty="0">
              <a:solidFill>
                <a:srgbClr val="C00000"/>
              </a:solidFill>
            </a:rPr>
            <a:t>Экономические последствия ВГО :</a:t>
          </a:r>
          <a:endParaRPr lang="en-US" sz="2000" dirty="0">
            <a:solidFill>
              <a:srgbClr val="C00000"/>
            </a:solidFill>
          </a:endParaRPr>
        </a:p>
      </dgm:t>
    </dgm:pt>
    <dgm:pt modelId="{7EFBE7BC-A953-4AFE-95AC-A75E47B691F9}" type="parTrans" cxnId="{6E1584AB-9596-4064-AF51-5092259E0782}">
      <dgm:prSet/>
      <dgm:spPr/>
      <dgm:t>
        <a:bodyPr/>
        <a:lstStyle/>
        <a:p>
          <a:endParaRPr lang="en-US"/>
        </a:p>
      </dgm:t>
    </dgm:pt>
    <dgm:pt modelId="{D657B2B0-4918-4BFC-AEBB-83306F74670B}" type="sibTrans" cxnId="{6E1584AB-9596-4064-AF51-5092259E0782}">
      <dgm:prSet/>
      <dgm:spPr/>
      <dgm:t>
        <a:bodyPr/>
        <a:lstStyle/>
        <a:p>
          <a:endParaRPr lang="en-US"/>
        </a:p>
      </dgm:t>
    </dgm:pt>
    <dgm:pt modelId="{25F6033A-6C93-4722-A3EE-592757003E92}">
      <dgm:prSet custT="1"/>
      <dgm:spPr/>
      <dgm:t>
        <a:bodyPr/>
        <a:lstStyle/>
        <a:p>
          <a:pPr rtl="0"/>
          <a:r>
            <a:rPr lang="ru-RU" sz="2000" b="1" dirty="0">
              <a:solidFill>
                <a:schemeClr val="tx1"/>
              </a:solidFill>
            </a:rPr>
            <a:t>Развитие товарно-денежных отношений </a:t>
          </a:r>
          <a:endParaRPr lang="en-US" sz="2000" dirty="0">
            <a:solidFill>
              <a:schemeClr val="tx1"/>
            </a:solidFill>
          </a:endParaRPr>
        </a:p>
      </dgm:t>
    </dgm:pt>
    <dgm:pt modelId="{6EA58BBF-AC08-47CA-8C39-55FEBDD20575}" type="parTrans" cxnId="{A987432C-A219-4AB9-BC31-A8F2898549DB}">
      <dgm:prSet/>
      <dgm:spPr/>
      <dgm:t>
        <a:bodyPr/>
        <a:lstStyle/>
        <a:p>
          <a:endParaRPr lang="en-US"/>
        </a:p>
      </dgm:t>
    </dgm:pt>
    <dgm:pt modelId="{8C4C06A6-01AF-4B12-995B-B37869E3FD90}" type="sibTrans" cxnId="{A987432C-A219-4AB9-BC31-A8F2898549DB}">
      <dgm:prSet/>
      <dgm:spPr/>
      <dgm:t>
        <a:bodyPr/>
        <a:lstStyle/>
        <a:p>
          <a:endParaRPr lang="en-US"/>
        </a:p>
      </dgm:t>
    </dgm:pt>
    <dgm:pt modelId="{C09719D5-1022-4702-9042-44C541640B8E}">
      <dgm:prSet custT="1"/>
      <dgm:spPr/>
      <dgm:t>
        <a:bodyPr/>
        <a:lstStyle/>
        <a:p>
          <a:pPr rtl="0"/>
          <a:r>
            <a:rPr lang="ru-RU" sz="2000" b="1" dirty="0">
              <a:solidFill>
                <a:schemeClr val="tx1"/>
              </a:solidFill>
            </a:rPr>
            <a:t>Становление рыночной экономики</a:t>
          </a:r>
          <a:endParaRPr lang="en-US" sz="2000" dirty="0">
            <a:solidFill>
              <a:schemeClr val="tx1"/>
            </a:solidFill>
          </a:endParaRPr>
        </a:p>
      </dgm:t>
    </dgm:pt>
    <dgm:pt modelId="{7FC1BB9D-D21D-4EF9-8C96-AD7309FB8F23}" type="parTrans" cxnId="{1F9D5965-C9F4-4A57-8DB0-DCFFD610C057}">
      <dgm:prSet/>
      <dgm:spPr/>
      <dgm:t>
        <a:bodyPr/>
        <a:lstStyle/>
        <a:p>
          <a:endParaRPr lang="en-US"/>
        </a:p>
      </dgm:t>
    </dgm:pt>
    <dgm:pt modelId="{99A97C40-D9F2-4390-BDBD-F0C1881D9827}" type="sibTrans" cxnId="{1F9D5965-C9F4-4A57-8DB0-DCFFD610C057}">
      <dgm:prSet/>
      <dgm:spPr/>
      <dgm:t>
        <a:bodyPr/>
        <a:lstStyle/>
        <a:p>
          <a:endParaRPr lang="en-US"/>
        </a:p>
      </dgm:t>
    </dgm:pt>
    <dgm:pt modelId="{C537A978-7D7A-45A9-BCC8-4678EA3CE0BC}">
      <dgm:prSet custT="1"/>
      <dgm:spPr/>
      <dgm:t>
        <a:bodyPr/>
        <a:lstStyle/>
        <a:p>
          <a:pPr rtl="0"/>
          <a:r>
            <a:rPr lang="ru-RU" sz="2000" b="1" dirty="0">
              <a:solidFill>
                <a:schemeClr val="tx1"/>
              </a:solidFill>
            </a:rPr>
            <a:t>Развитие мануфактурного производства и предпринимательства        </a:t>
          </a:r>
          <a:endParaRPr lang="en-US" sz="2000" dirty="0">
            <a:solidFill>
              <a:schemeClr val="tx1"/>
            </a:solidFill>
          </a:endParaRPr>
        </a:p>
      </dgm:t>
    </dgm:pt>
    <dgm:pt modelId="{A5E5DB2F-4CCE-4BBC-BA70-4C47CD34D133}" type="parTrans" cxnId="{262322AF-3992-492A-A1BD-621A391A0279}">
      <dgm:prSet/>
      <dgm:spPr/>
      <dgm:t>
        <a:bodyPr/>
        <a:lstStyle/>
        <a:p>
          <a:endParaRPr lang="en-US"/>
        </a:p>
      </dgm:t>
    </dgm:pt>
    <dgm:pt modelId="{3C44BA4C-47BD-4681-8C24-E1494CB9C53F}" type="sibTrans" cxnId="{262322AF-3992-492A-A1BD-621A391A0279}">
      <dgm:prSet/>
      <dgm:spPr/>
      <dgm:t>
        <a:bodyPr/>
        <a:lstStyle/>
        <a:p>
          <a:endParaRPr lang="en-US"/>
        </a:p>
      </dgm:t>
    </dgm:pt>
    <dgm:pt modelId="{3AA11928-3044-44F0-8845-B88452EC0F2E}">
      <dgm:prSet custT="1"/>
      <dgm:spPr/>
      <dgm:t>
        <a:bodyPr/>
        <a:lstStyle/>
        <a:p>
          <a:pPr rtl="0"/>
          <a:r>
            <a:rPr lang="ru-RU" sz="2000" b="1" dirty="0">
              <a:solidFill>
                <a:schemeClr val="tx1"/>
              </a:solidFill>
            </a:rPr>
            <a:t>Возникновение торговых компаний, в </a:t>
          </a:r>
          <a:r>
            <a:rPr lang="ru-RU" sz="2000" b="1" dirty="0" err="1">
              <a:solidFill>
                <a:schemeClr val="tx1"/>
              </a:solidFill>
            </a:rPr>
            <a:t>т.ч</a:t>
          </a:r>
          <a:r>
            <a:rPr lang="ru-RU" sz="2000" b="1" dirty="0">
              <a:solidFill>
                <a:schemeClr val="tx1"/>
              </a:solidFill>
            </a:rPr>
            <a:t>. акционерные, биржи               </a:t>
          </a:r>
          <a:endParaRPr lang="en-US" sz="2000" dirty="0">
            <a:solidFill>
              <a:schemeClr val="tx1"/>
            </a:solidFill>
          </a:endParaRPr>
        </a:p>
      </dgm:t>
    </dgm:pt>
    <dgm:pt modelId="{0A1701AE-FA70-475C-A9D8-6EA5B598254D}" type="parTrans" cxnId="{9D57E058-6BBC-4D44-8BB3-EA3882A6334F}">
      <dgm:prSet/>
      <dgm:spPr/>
      <dgm:t>
        <a:bodyPr/>
        <a:lstStyle/>
        <a:p>
          <a:endParaRPr lang="en-US"/>
        </a:p>
      </dgm:t>
    </dgm:pt>
    <dgm:pt modelId="{DC546E33-B2EB-4882-9731-64913FC20A48}" type="sibTrans" cxnId="{9D57E058-6BBC-4D44-8BB3-EA3882A6334F}">
      <dgm:prSet/>
      <dgm:spPr/>
      <dgm:t>
        <a:bodyPr/>
        <a:lstStyle/>
        <a:p>
          <a:endParaRPr lang="en-US"/>
        </a:p>
      </dgm:t>
    </dgm:pt>
    <dgm:pt modelId="{70D59A2F-90A0-4B90-92A7-0A421EFFD844}">
      <dgm:prSet custT="1"/>
      <dgm:spPr/>
      <dgm:t>
        <a:bodyPr/>
        <a:lstStyle/>
        <a:p>
          <a:pPr rtl="0"/>
          <a:r>
            <a:rPr lang="ru-RU" sz="2000" b="1" dirty="0">
              <a:solidFill>
                <a:schemeClr val="tx1"/>
              </a:solidFill>
            </a:rPr>
            <a:t>На смену ростовщичеству приходит банковский капитал, развивается кредит</a:t>
          </a:r>
          <a:endParaRPr lang="en-US" sz="2000" dirty="0">
            <a:solidFill>
              <a:schemeClr val="tx1"/>
            </a:solidFill>
          </a:endParaRPr>
        </a:p>
      </dgm:t>
    </dgm:pt>
    <dgm:pt modelId="{6C86F61A-E0D3-43BB-92A1-AB85D1413F56}" type="parTrans" cxnId="{DA87E845-3BE4-4761-BE89-51CDC6861F37}">
      <dgm:prSet/>
      <dgm:spPr/>
      <dgm:t>
        <a:bodyPr/>
        <a:lstStyle/>
        <a:p>
          <a:endParaRPr lang="en-US"/>
        </a:p>
      </dgm:t>
    </dgm:pt>
    <dgm:pt modelId="{556E4A6A-B8C7-4D7C-ACC7-48D5EBEE4449}" type="sibTrans" cxnId="{DA87E845-3BE4-4761-BE89-51CDC6861F37}">
      <dgm:prSet/>
      <dgm:spPr/>
      <dgm:t>
        <a:bodyPr/>
        <a:lstStyle/>
        <a:p>
          <a:endParaRPr lang="en-US"/>
        </a:p>
      </dgm:t>
    </dgm:pt>
    <dgm:pt modelId="{7FC2F287-092F-45AD-8870-56505EEED711}" type="pres">
      <dgm:prSet presAssocID="{7751F2BE-08E9-4BDF-BE7E-29F21545D1A9}" presName="linear" presStyleCnt="0">
        <dgm:presLayoutVars>
          <dgm:animLvl val="lvl"/>
          <dgm:resizeHandles val="exact"/>
        </dgm:presLayoutVars>
      </dgm:prSet>
      <dgm:spPr/>
    </dgm:pt>
    <dgm:pt modelId="{47D221D5-29C9-4451-A67C-307D66943153}" type="pres">
      <dgm:prSet presAssocID="{E20DC079-30CA-40E7-8641-87069133951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DB6E43F-C578-4223-9E93-647988E59945}" type="pres">
      <dgm:prSet presAssocID="{D657B2B0-4918-4BFC-AEBB-83306F74670B}" presName="spacer" presStyleCnt="0"/>
      <dgm:spPr/>
    </dgm:pt>
    <dgm:pt modelId="{BC2042BE-90D5-4C6E-9165-38E519EAE1CC}" type="pres">
      <dgm:prSet presAssocID="{25F6033A-6C93-4722-A3EE-592757003E9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1EA50F2-122C-4DA0-8B80-6EF06C7A1778}" type="pres">
      <dgm:prSet presAssocID="{8C4C06A6-01AF-4B12-995B-B37869E3FD90}" presName="spacer" presStyleCnt="0"/>
      <dgm:spPr/>
    </dgm:pt>
    <dgm:pt modelId="{08012B68-DEDB-4ED1-A80F-C40F752E4799}" type="pres">
      <dgm:prSet presAssocID="{C09719D5-1022-4702-9042-44C541640B8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5FC3033-3D03-4D0C-A330-2C8FDB0D2E87}" type="pres">
      <dgm:prSet presAssocID="{99A97C40-D9F2-4390-BDBD-F0C1881D9827}" presName="spacer" presStyleCnt="0"/>
      <dgm:spPr/>
    </dgm:pt>
    <dgm:pt modelId="{440D800E-F961-438A-90C7-40A3DF8AF50A}" type="pres">
      <dgm:prSet presAssocID="{C537A978-7D7A-45A9-BCC8-4678EA3CE0B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BB3738C-AC8C-4B7A-A4A1-850D26C91D48}" type="pres">
      <dgm:prSet presAssocID="{3C44BA4C-47BD-4681-8C24-E1494CB9C53F}" presName="spacer" presStyleCnt="0"/>
      <dgm:spPr/>
    </dgm:pt>
    <dgm:pt modelId="{3BB682E5-2862-42A4-88EA-20357AB8E946}" type="pres">
      <dgm:prSet presAssocID="{3AA11928-3044-44F0-8845-B88452EC0F2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9F0D4BD-65FC-453D-83F3-C8C5F64249FA}" type="pres">
      <dgm:prSet presAssocID="{DC546E33-B2EB-4882-9731-64913FC20A48}" presName="spacer" presStyleCnt="0"/>
      <dgm:spPr/>
    </dgm:pt>
    <dgm:pt modelId="{1985E245-1338-47F9-9505-F6984E2AF581}" type="pres">
      <dgm:prSet presAssocID="{70D59A2F-90A0-4B90-92A7-0A421EFFD844}" presName="parentText" presStyleLbl="node1" presStyleIdx="5" presStyleCnt="6" custLinFactY="3048" custLinFactNeighborY="100000">
        <dgm:presLayoutVars>
          <dgm:chMax val="0"/>
          <dgm:bulletEnabled val="1"/>
        </dgm:presLayoutVars>
      </dgm:prSet>
      <dgm:spPr/>
    </dgm:pt>
  </dgm:ptLst>
  <dgm:cxnLst>
    <dgm:cxn modelId="{D30BD40A-1898-4D60-867F-1B567CEBD386}" type="presOf" srcId="{C537A978-7D7A-45A9-BCC8-4678EA3CE0BC}" destId="{440D800E-F961-438A-90C7-40A3DF8AF50A}" srcOrd="0" destOrd="0" presId="urn:microsoft.com/office/officeart/2005/8/layout/vList2"/>
    <dgm:cxn modelId="{6C2D2C0D-C8C8-4A00-81E5-3BDCC231A3AC}" type="presOf" srcId="{7751F2BE-08E9-4BDF-BE7E-29F21545D1A9}" destId="{7FC2F287-092F-45AD-8870-56505EEED711}" srcOrd="0" destOrd="0" presId="urn:microsoft.com/office/officeart/2005/8/layout/vList2"/>
    <dgm:cxn modelId="{9E41F217-C003-45EB-865C-7EA0CF31EFAF}" type="presOf" srcId="{25F6033A-6C93-4722-A3EE-592757003E92}" destId="{BC2042BE-90D5-4C6E-9165-38E519EAE1CC}" srcOrd="0" destOrd="0" presId="urn:microsoft.com/office/officeart/2005/8/layout/vList2"/>
    <dgm:cxn modelId="{A987432C-A219-4AB9-BC31-A8F2898549DB}" srcId="{7751F2BE-08E9-4BDF-BE7E-29F21545D1A9}" destId="{25F6033A-6C93-4722-A3EE-592757003E92}" srcOrd="1" destOrd="0" parTransId="{6EA58BBF-AC08-47CA-8C39-55FEBDD20575}" sibTransId="{8C4C06A6-01AF-4B12-995B-B37869E3FD90}"/>
    <dgm:cxn modelId="{1F9D5965-C9F4-4A57-8DB0-DCFFD610C057}" srcId="{7751F2BE-08E9-4BDF-BE7E-29F21545D1A9}" destId="{C09719D5-1022-4702-9042-44C541640B8E}" srcOrd="2" destOrd="0" parTransId="{7FC1BB9D-D21D-4EF9-8C96-AD7309FB8F23}" sibTransId="{99A97C40-D9F2-4390-BDBD-F0C1881D9827}"/>
    <dgm:cxn modelId="{DA87E845-3BE4-4761-BE89-51CDC6861F37}" srcId="{7751F2BE-08E9-4BDF-BE7E-29F21545D1A9}" destId="{70D59A2F-90A0-4B90-92A7-0A421EFFD844}" srcOrd="5" destOrd="0" parTransId="{6C86F61A-E0D3-43BB-92A1-AB85D1413F56}" sibTransId="{556E4A6A-B8C7-4D7C-ACC7-48D5EBEE4449}"/>
    <dgm:cxn modelId="{F1015458-0161-4EC6-896E-BFE89B363D55}" type="presOf" srcId="{E20DC079-30CA-40E7-8641-870691339511}" destId="{47D221D5-29C9-4451-A67C-307D66943153}" srcOrd="0" destOrd="0" presId="urn:microsoft.com/office/officeart/2005/8/layout/vList2"/>
    <dgm:cxn modelId="{9D57E058-6BBC-4D44-8BB3-EA3882A6334F}" srcId="{7751F2BE-08E9-4BDF-BE7E-29F21545D1A9}" destId="{3AA11928-3044-44F0-8845-B88452EC0F2E}" srcOrd="4" destOrd="0" parTransId="{0A1701AE-FA70-475C-A9D8-6EA5B598254D}" sibTransId="{DC546E33-B2EB-4882-9731-64913FC20A48}"/>
    <dgm:cxn modelId="{C883F99A-13E5-4BE5-9910-A9AFC779DB32}" type="presOf" srcId="{3AA11928-3044-44F0-8845-B88452EC0F2E}" destId="{3BB682E5-2862-42A4-88EA-20357AB8E946}" srcOrd="0" destOrd="0" presId="urn:microsoft.com/office/officeart/2005/8/layout/vList2"/>
    <dgm:cxn modelId="{708703A5-354F-4CE2-9272-CC565A40436E}" type="presOf" srcId="{C09719D5-1022-4702-9042-44C541640B8E}" destId="{08012B68-DEDB-4ED1-A80F-C40F752E4799}" srcOrd="0" destOrd="0" presId="urn:microsoft.com/office/officeart/2005/8/layout/vList2"/>
    <dgm:cxn modelId="{6E1584AB-9596-4064-AF51-5092259E0782}" srcId="{7751F2BE-08E9-4BDF-BE7E-29F21545D1A9}" destId="{E20DC079-30CA-40E7-8641-870691339511}" srcOrd="0" destOrd="0" parTransId="{7EFBE7BC-A953-4AFE-95AC-A75E47B691F9}" sibTransId="{D657B2B0-4918-4BFC-AEBB-83306F74670B}"/>
    <dgm:cxn modelId="{262322AF-3992-492A-A1BD-621A391A0279}" srcId="{7751F2BE-08E9-4BDF-BE7E-29F21545D1A9}" destId="{C537A978-7D7A-45A9-BCC8-4678EA3CE0BC}" srcOrd="3" destOrd="0" parTransId="{A5E5DB2F-4CCE-4BBC-BA70-4C47CD34D133}" sibTransId="{3C44BA4C-47BD-4681-8C24-E1494CB9C53F}"/>
    <dgm:cxn modelId="{CBA3ECFD-ECA4-4B1C-83C9-AAA04B82D8BE}" type="presOf" srcId="{70D59A2F-90A0-4B90-92A7-0A421EFFD844}" destId="{1985E245-1338-47F9-9505-F6984E2AF581}" srcOrd="0" destOrd="0" presId="urn:microsoft.com/office/officeart/2005/8/layout/vList2"/>
    <dgm:cxn modelId="{E842B066-2766-46A4-A637-30A361FD9509}" type="presParOf" srcId="{7FC2F287-092F-45AD-8870-56505EEED711}" destId="{47D221D5-29C9-4451-A67C-307D66943153}" srcOrd="0" destOrd="0" presId="urn:microsoft.com/office/officeart/2005/8/layout/vList2"/>
    <dgm:cxn modelId="{2A732846-03BA-4F54-8C8F-54BBCE4A744F}" type="presParOf" srcId="{7FC2F287-092F-45AD-8870-56505EEED711}" destId="{0DB6E43F-C578-4223-9E93-647988E59945}" srcOrd="1" destOrd="0" presId="urn:microsoft.com/office/officeart/2005/8/layout/vList2"/>
    <dgm:cxn modelId="{A656DDC0-CDDD-4FD9-A7D1-E4A758DC638A}" type="presParOf" srcId="{7FC2F287-092F-45AD-8870-56505EEED711}" destId="{BC2042BE-90D5-4C6E-9165-38E519EAE1CC}" srcOrd="2" destOrd="0" presId="urn:microsoft.com/office/officeart/2005/8/layout/vList2"/>
    <dgm:cxn modelId="{3FB0EA0E-DA6D-4B6F-83AE-2B68742CAEF4}" type="presParOf" srcId="{7FC2F287-092F-45AD-8870-56505EEED711}" destId="{F1EA50F2-122C-4DA0-8B80-6EF06C7A1778}" srcOrd="3" destOrd="0" presId="urn:microsoft.com/office/officeart/2005/8/layout/vList2"/>
    <dgm:cxn modelId="{BC071EDA-321F-48B8-AB06-06547CF19348}" type="presParOf" srcId="{7FC2F287-092F-45AD-8870-56505EEED711}" destId="{08012B68-DEDB-4ED1-A80F-C40F752E4799}" srcOrd="4" destOrd="0" presId="urn:microsoft.com/office/officeart/2005/8/layout/vList2"/>
    <dgm:cxn modelId="{004C7288-88DA-4FAB-A52E-38A904B6BC77}" type="presParOf" srcId="{7FC2F287-092F-45AD-8870-56505EEED711}" destId="{15FC3033-3D03-4D0C-A330-2C8FDB0D2E87}" srcOrd="5" destOrd="0" presId="urn:microsoft.com/office/officeart/2005/8/layout/vList2"/>
    <dgm:cxn modelId="{2A42E366-17A9-4067-90F4-B808714B7677}" type="presParOf" srcId="{7FC2F287-092F-45AD-8870-56505EEED711}" destId="{440D800E-F961-438A-90C7-40A3DF8AF50A}" srcOrd="6" destOrd="0" presId="urn:microsoft.com/office/officeart/2005/8/layout/vList2"/>
    <dgm:cxn modelId="{7D3388E9-8DAA-4651-AC95-FC42E80D894E}" type="presParOf" srcId="{7FC2F287-092F-45AD-8870-56505EEED711}" destId="{8BB3738C-AC8C-4B7A-A4A1-850D26C91D48}" srcOrd="7" destOrd="0" presId="urn:microsoft.com/office/officeart/2005/8/layout/vList2"/>
    <dgm:cxn modelId="{DA73F399-0095-46BE-8357-FB9E5A98A80D}" type="presParOf" srcId="{7FC2F287-092F-45AD-8870-56505EEED711}" destId="{3BB682E5-2862-42A4-88EA-20357AB8E946}" srcOrd="8" destOrd="0" presId="urn:microsoft.com/office/officeart/2005/8/layout/vList2"/>
    <dgm:cxn modelId="{88DF0810-B572-43D3-9C90-2E53E580062D}" type="presParOf" srcId="{7FC2F287-092F-45AD-8870-56505EEED711}" destId="{C9F0D4BD-65FC-453D-83F3-C8C5F64249FA}" srcOrd="9" destOrd="0" presId="urn:microsoft.com/office/officeart/2005/8/layout/vList2"/>
    <dgm:cxn modelId="{0D5C12C4-9A67-45FA-9F4D-48CE48546C17}" type="presParOf" srcId="{7FC2F287-092F-45AD-8870-56505EEED711}" destId="{1985E245-1338-47F9-9505-F6984E2AF58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CC3D94-8A48-4FCC-9987-A2CFF3955C29}" type="doc">
      <dgm:prSet loTypeId="urn:microsoft.com/office/officeart/2005/8/layout/vList2" loCatId="list" qsTypeId="urn:microsoft.com/office/officeart/2005/8/quickstyle/simple1#2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6E99654D-F734-44AF-AC27-3DDEF3B2005A}">
      <dgm:prSet/>
      <dgm:spPr/>
      <dgm:t>
        <a:bodyPr/>
        <a:lstStyle/>
        <a:p>
          <a:pPr rtl="0"/>
          <a:r>
            <a:rPr lang="ru-RU" b="1" dirty="0">
              <a:solidFill>
                <a:schemeClr val="tx1"/>
              </a:solidFill>
            </a:rPr>
            <a:t>Отраслевая структура экономики Голландии:</a:t>
          </a:r>
          <a:endParaRPr lang="en-US" dirty="0">
            <a:solidFill>
              <a:schemeClr val="tx1"/>
            </a:solidFill>
          </a:endParaRPr>
        </a:p>
      </dgm:t>
    </dgm:pt>
    <dgm:pt modelId="{0DF14949-BA4B-4214-A793-F5C1EFD50D87}" type="parTrans" cxnId="{DDEB2FBE-997D-4841-915D-3712470D9AC0}">
      <dgm:prSet/>
      <dgm:spPr/>
      <dgm:t>
        <a:bodyPr/>
        <a:lstStyle/>
        <a:p>
          <a:endParaRPr lang="en-US"/>
        </a:p>
      </dgm:t>
    </dgm:pt>
    <dgm:pt modelId="{4073FFF0-8A13-43FC-ABB2-C62D8B86768A}" type="sibTrans" cxnId="{DDEB2FBE-997D-4841-915D-3712470D9AC0}">
      <dgm:prSet/>
      <dgm:spPr/>
      <dgm:t>
        <a:bodyPr/>
        <a:lstStyle/>
        <a:p>
          <a:endParaRPr lang="en-US"/>
        </a:p>
      </dgm:t>
    </dgm:pt>
    <dgm:pt modelId="{38514C40-0BA3-42EF-B6E2-19AE225D7565}">
      <dgm:prSet custT="1"/>
      <dgm:spPr/>
      <dgm:t>
        <a:bodyPr/>
        <a:lstStyle/>
        <a:p>
          <a:pPr rtl="0"/>
          <a:r>
            <a:rPr lang="ru-RU" sz="2400" b="1" dirty="0">
              <a:solidFill>
                <a:schemeClr val="tx1"/>
              </a:solidFill>
            </a:rPr>
            <a:t>судостроение</a:t>
          </a:r>
          <a:endParaRPr lang="en-US" sz="2400" dirty="0">
            <a:solidFill>
              <a:schemeClr val="tx1"/>
            </a:solidFill>
          </a:endParaRPr>
        </a:p>
      </dgm:t>
    </dgm:pt>
    <dgm:pt modelId="{012C4BFB-9EEF-46FA-AEF6-F36BD2485FDD}" type="parTrans" cxnId="{B77155A4-BA71-4C40-8167-BB3307E095A9}">
      <dgm:prSet/>
      <dgm:spPr/>
      <dgm:t>
        <a:bodyPr/>
        <a:lstStyle/>
        <a:p>
          <a:endParaRPr lang="en-US"/>
        </a:p>
      </dgm:t>
    </dgm:pt>
    <dgm:pt modelId="{44F97064-A560-45D1-985B-8BA3EDDD5F4D}" type="sibTrans" cxnId="{B77155A4-BA71-4C40-8167-BB3307E095A9}">
      <dgm:prSet/>
      <dgm:spPr/>
      <dgm:t>
        <a:bodyPr/>
        <a:lstStyle/>
        <a:p>
          <a:endParaRPr lang="en-US"/>
        </a:p>
      </dgm:t>
    </dgm:pt>
    <dgm:pt modelId="{07F29947-ED10-4C53-BBC8-8407503C8FDC}">
      <dgm:prSet custT="1"/>
      <dgm:spPr/>
      <dgm:t>
        <a:bodyPr/>
        <a:lstStyle/>
        <a:p>
          <a:pPr rtl="0"/>
          <a:r>
            <a:rPr lang="ru-RU" sz="2400" b="1" dirty="0">
              <a:solidFill>
                <a:schemeClr val="tx1"/>
              </a:solidFill>
            </a:rPr>
            <a:t>рыболовство</a:t>
          </a:r>
          <a:endParaRPr lang="en-US" sz="2400" dirty="0">
            <a:solidFill>
              <a:schemeClr val="tx1"/>
            </a:solidFill>
          </a:endParaRPr>
        </a:p>
      </dgm:t>
    </dgm:pt>
    <dgm:pt modelId="{B7101709-0AA9-4CED-B300-2F7A0B196A36}" type="parTrans" cxnId="{D6B3026F-E9C6-422A-999B-A044E0E379CE}">
      <dgm:prSet/>
      <dgm:spPr/>
      <dgm:t>
        <a:bodyPr/>
        <a:lstStyle/>
        <a:p>
          <a:endParaRPr lang="en-US"/>
        </a:p>
      </dgm:t>
    </dgm:pt>
    <dgm:pt modelId="{5314E198-D626-41F8-97CF-720BACB555AE}" type="sibTrans" cxnId="{D6B3026F-E9C6-422A-999B-A044E0E379CE}">
      <dgm:prSet/>
      <dgm:spPr/>
      <dgm:t>
        <a:bodyPr/>
        <a:lstStyle/>
        <a:p>
          <a:endParaRPr lang="en-US"/>
        </a:p>
      </dgm:t>
    </dgm:pt>
    <dgm:pt modelId="{B97859DC-D257-4BE6-95D9-BB76BA1FEE9F}">
      <dgm:prSet custT="1"/>
      <dgm:spPr/>
      <dgm:t>
        <a:bodyPr/>
        <a:lstStyle/>
        <a:p>
          <a:pPr rtl="0"/>
          <a:r>
            <a:rPr lang="ru-RU" sz="2400" b="1" dirty="0">
              <a:solidFill>
                <a:schemeClr val="tx1"/>
              </a:solidFill>
            </a:rPr>
            <a:t>сельское хозяйство</a:t>
          </a:r>
          <a:endParaRPr lang="en-US" sz="2400" dirty="0">
            <a:solidFill>
              <a:schemeClr val="tx1"/>
            </a:solidFill>
          </a:endParaRPr>
        </a:p>
      </dgm:t>
    </dgm:pt>
    <dgm:pt modelId="{EABCA80F-9334-4E8E-807B-F4EFF65A39CE}" type="parTrans" cxnId="{D8E8CF35-3F1A-4B5E-A138-EFC11D67B900}">
      <dgm:prSet/>
      <dgm:spPr/>
      <dgm:t>
        <a:bodyPr/>
        <a:lstStyle/>
        <a:p>
          <a:endParaRPr lang="en-US"/>
        </a:p>
      </dgm:t>
    </dgm:pt>
    <dgm:pt modelId="{05D53027-71FB-41BD-B76C-A5F113E7B2B3}" type="sibTrans" cxnId="{D8E8CF35-3F1A-4B5E-A138-EFC11D67B900}">
      <dgm:prSet/>
      <dgm:spPr/>
      <dgm:t>
        <a:bodyPr/>
        <a:lstStyle/>
        <a:p>
          <a:endParaRPr lang="en-US"/>
        </a:p>
      </dgm:t>
    </dgm:pt>
    <dgm:pt modelId="{08567AFE-02F8-4218-B4EE-F82FDA653D81}">
      <dgm:prSet custT="1"/>
      <dgm:spPr/>
      <dgm:t>
        <a:bodyPr/>
        <a:lstStyle/>
        <a:p>
          <a:pPr rtl="0"/>
          <a:r>
            <a:rPr lang="ru-RU" sz="2400" b="1" dirty="0">
              <a:solidFill>
                <a:schemeClr val="tx1"/>
              </a:solidFill>
            </a:rPr>
            <a:t>торговля</a:t>
          </a:r>
          <a:endParaRPr lang="en-US" sz="2400" dirty="0">
            <a:solidFill>
              <a:schemeClr val="tx1"/>
            </a:solidFill>
          </a:endParaRPr>
        </a:p>
      </dgm:t>
    </dgm:pt>
    <dgm:pt modelId="{DD6E0725-D3EF-41BC-B716-A6E2573BF863}" type="parTrans" cxnId="{D6008484-AB07-40C1-B9D6-2B03AB2A40B4}">
      <dgm:prSet/>
      <dgm:spPr/>
      <dgm:t>
        <a:bodyPr/>
        <a:lstStyle/>
        <a:p>
          <a:endParaRPr lang="en-US"/>
        </a:p>
      </dgm:t>
    </dgm:pt>
    <dgm:pt modelId="{EFFEA312-958E-4C7F-9203-2CE95F1EC477}" type="sibTrans" cxnId="{D6008484-AB07-40C1-B9D6-2B03AB2A40B4}">
      <dgm:prSet/>
      <dgm:spPr/>
      <dgm:t>
        <a:bodyPr/>
        <a:lstStyle/>
        <a:p>
          <a:endParaRPr lang="en-US"/>
        </a:p>
      </dgm:t>
    </dgm:pt>
    <dgm:pt modelId="{F2EBAFEA-E703-431F-AC5E-2AD52742188F}">
      <dgm:prSet custT="1"/>
      <dgm:spPr/>
      <dgm:t>
        <a:bodyPr/>
        <a:lstStyle/>
        <a:p>
          <a:pPr rtl="0"/>
          <a:r>
            <a:rPr lang="ru-RU" sz="2400" b="1" dirty="0">
              <a:solidFill>
                <a:schemeClr val="tx1"/>
              </a:solidFill>
            </a:rPr>
            <a:t>финансы и кредит</a:t>
          </a:r>
          <a:endParaRPr lang="en-US" sz="2400" dirty="0">
            <a:solidFill>
              <a:schemeClr val="tx1"/>
            </a:solidFill>
          </a:endParaRPr>
        </a:p>
      </dgm:t>
    </dgm:pt>
    <dgm:pt modelId="{72C393EC-2809-46A4-BF1D-50A32FCF0169}" type="parTrans" cxnId="{4C53706E-91F3-4C7B-9BD7-E52690F6A3B3}">
      <dgm:prSet/>
      <dgm:spPr/>
      <dgm:t>
        <a:bodyPr/>
        <a:lstStyle/>
        <a:p>
          <a:endParaRPr lang="en-US"/>
        </a:p>
      </dgm:t>
    </dgm:pt>
    <dgm:pt modelId="{7914D179-203F-4281-8C62-0F2E4FD6F0CB}" type="sibTrans" cxnId="{4C53706E-91F3-4C7B-9BD7-E52690F6A3B3}">
      <dgm:prSet/>
      <dgm:spPr/>
      <dgm:t>
        <a:bodyPr/>
        <a:lstStyle/>
        <a:p>
          <a:endParaRPr lang="en-US"/>
        </a:p>
      </dgm:t>
    </dgm:pt>
    <dgm:pt modelId="{B5F6A594-2701-4A22-A4F6-7EADF55B6EE5}">
      <dgm:prSet custT="1"/>
      <dgm:spPr/>
      <dgm:t>
        <a:bodyPr/>
        <a:lstStyle/>
        <a:p>
          <a:pPr rtl="0"/>
          <a:r>
            <a:rPr lang="ru-RU" sz="2400" b="1" dirty="0">
              <a:solidFill>
                <a:schemeClr val="tx1"/>
              </a:solidFill>
            </a:rPr>
            <a:t>суконная промышленность</a:t>
          </a:r>
          <a:endParaRPr lang="en-US" sz="2400" dirty="0">
            <a:solidFill>
              <a:schemeClr val="tx1"/>
            </a:solidFill>
          </a:endParaRPr>
        </a:p>
      </dgm:t>
    </dgm:pt>
    <dgm:pt modelId="{B8A944A2-2F07-4414-9711-9D15B0F4496A}" type="parTrans" cxnId="{CB96C77F-F512-47A5-AF34-7788413788BA}">
      <dgm:prSet/>
      <dgm:spPr/>
      <dgm:t>
        <a:bodyPr/>
        <a:lstStyle/>
        <a:p>
          <a:endParaRPr lang="en-US"/>
        </a:p>
      </dgm:t>
    </dgm:pt>
    <dgm:pt modelId="{D44CDE22-D530-47CF-ADDA-B17EB06388D5}" type="sibTrans" cxnId="{CB96C77F-F512-47A5-AF34-7788413788BA}">
      <dgm:prSet/>
      <dgm:spPr/>
      <dgm:t>
        <a:bodyPr/>
        <a:lstStyle/>
        <a:p>
          <a:endParaRPr lang="en-US"/>
        </a:p>
      </dgm:t>
    </dgm:pt>
    <dgm:pt modelId="{877F254E-0C3A-4DF9-8D69-858A532587B3}" type="pres">
      <dgm:prSet presAssocID="{C8CC3D94-8A48-4FCC-9987-A2CFF3955C29}" presName="linear" presStyleCnt="0">
        <dgm:presLayoutVars>
          <dgm:animLvl val="lvl"/>
          <dgm:resizeHandles val="exact"/>
        </dgm:presLayoutVars>
      </dgm:prSet>
      <dgm:spPr/>
    </dgm:pt>
    <dgm:pt modelId="{50D8B28B-86D6-435D-9E10-93139AEED7F8}" type="pres">
      <dgm:prSet presAssocID="{6E99654D-F734-44AF-AC27-3DDEF3B2005A}" presName="parentText" presStyleLbl="node1" presStyleIdx="0" presStyleCnt="7" custLinFactY="-12919" custLinFactNeighborY="-100000">
        <dgm:presLayoutVars>
          <dgm:chMax val="0"/>
          <dgm:bulletEnabled val="1"/>
        </dgm:presLayoutVars>
      </dgm:prSet>
      <dgm:spPr/>
    </dgm:pt>
    <dgm:pt modelId="{9C8CBB24-0418-4EB3-A8EE-A5B4625E22D5}" type="pres">
      <dgm:prSet presAssocID="{4073FFF0-8A13-43FC-ABB2-C62D8B86768A}" presName="spacer" presStyleCnt="0"/>
      <dgm:spPr/>
    </dgm:pt>
    <dgm:pt modelId="{251CFB27-1078-4793-B369-5A2BE7920F3C}" type="pres">
      <dgm:prSet presAssocID="{38514C40-0BA3-42EF-B6E2-19AE225D756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EA6E3AF-3D43-4770-9E91-4AFCC5592179}" type="pres">
      <dgm:prSet presAssocID="{44F97064-A560-45D1-985B-8BA3EDDD5F4D}" presName="spacer" presStyleCnt="0"/>
      <dgm:spPr/>
    </dgm:pt>
    <dgm:pt modelId="{7636E093-1AA7-485A-A64A-9B9DB635EE8F}" type="pres">
      <dgm:prSet presAssocID="{07F29947-ED10-4C53-BBC8-8407503C8FD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92425C6-3201-4E79-8569-397604548398}" type="pres">
      <dgm:prSet presAssocID="{5314E198-D626-41F8-97CF-720BACB555AE}" presName="spacer" presStyleCnt="0"/>
      <dgm:spPr/>
    </dgm:pt>
    <dgm:pt modelId="{565E116C-C824-4C25-A1D5-F10F135B1143}" type="pres">
      <dgm:prSet presAssocID="{B97859DC-D257-4BE6-95D9-BB76BA1FEE9F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CB575EA-E6DA-4A42-A887-C2E89E3B2C31}" type="pres">
      <dgm:prSet presAssocID="{05D53027-71FB-41BD-B76C-A5F113E7B2B3}" presName="spacer" presStyleCnt="0"/>
      <dgm:spPr/>
    </dgm:pt>
    <dgm:pt modelId="{C1C0B34C-CF00-4BBE-BF9D-9EE94E913210}" type="pres">
      <dgm:prSet presAssocID="{08567AFE-02F8-4218-B4EE-F82FDA653D8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CC9D9D1-EF45-4185-9EEF-A8628771890F}" type="pres">
      <dgm:prSet presAssocID="{EFFEA312-958E-4C7F-9203-2CE95F1EC477}" presName="spacer" presStyleCnt="0"/>
      <dgm:spPr/>
    </dgm:pt>
    <dgm:pt modelId="{42E5DAD5-5E68-44E4-9771-6E6F30867328}" type="pres">
      <dgm:prSet presAssocID="{F2EBAFEA-E703-431F-AC5E-2AD52742188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9B37A2EA-0630-4A1D-90A5-48E80D2B23B8}" type="pres">
      <dgm:prSet presAssocID="{7914D179-203F-4281-8C62-0F2E4FD6F0CB}" presName="spacer" presStyleCnt="0"/>
      <dgm:spPr/>
    </dgm:pt>
    <dgm:pt modelId="{ADB6753B-D448-4F0B-B386-2DF3E1DCC00B}" type="pres">
      <dgm:prSet presAssocID="{B5F6A594-2701-4A22-A4F6-7EADF55B6EE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7EFD934-F165-43CF-8294-A217A5F3727C}" type="presOf" srcId="{B97859DC-D257-4BE6-95D9-BB76BA1FEE9F}" destId="{565E116C-C824-4C25-A1D5-F10F135B1143}" srcOrd="0" destOrd="0" presId="urn:microsoft.com/office/officeart/2005/8/layout/vList2"/>
    <dgm:cxn modelId="{D8E8CF35-3F1A-4B5E-A138-EFC11D67B900}" srcId="{C8CC3D94-8A48-4FCC-9987-A2CFF3955C29}" destId="{B97859DC-D257-4BE6-95D9-BB76BA1FEE9F}" srcOrd="3" destOrd="0" parTransId="{EABCA80F-9334-4E8E-807B-F4EFF65A39CE}" sibTransId="{05D53027-71FB-41BD-B76C-A5F113E7B2B3}"/>
    <dgm:cxn modelId="{1DAD5E63-4448-440A-95E6-082E68B60CFF}" type="presOf" srcId="{C8CC3D94-8A48-4FCC-9987-A2CFF3955C29}" destId="{877F254E-0C3A-4DF9-8D69-858A532587B3}" srcOrd="0" destOrd="0" presId="urn:microsoft.com/office/officeart/2005/8/layout/vList2"/>
    <dgm:cxn modelId="{4C53706E-91F3-4C7B-9BD7-E52690F6A3B3}" srcId="{C8CC3D94-8A48-4FCC-9987-A2CFF3955C29}" destId="{F2EBAFEA-E703-431F-AC5E-2AD52742188F}" srcOrd="5" destOrd="0" parTransId="{72C393EC-2809-46A4-BF1D-50A32FCF0169}" sibTransId="{7914D179-203F-4281-8C62-0F2E4FD6F0CB}"/>
    <dgm:cxn modelId="{D6B3026F-E9C6-422A-999B-A044E0E379CE}" srcId="{C8CC3D94-8A48-4FCC-9987-A2CFF3955C29}" destId="{07F29947-ED10-4C53-BBC8-8407503C8FDC}" srcOrd="2" destOrd="0" parTransId="{B7101709-0AA9-4CED-B300-2F7A0B196A36}" sibTransId="{5314E198-D626-41F8-97CF-720BACB555AE}"/>
    <dgm:cxn modelId="{F2AE264F-807B-4D2C-BACD-A9B96A2809B1}" type="presOf" srcId="{07F29947-ED10-4C53-BBC8-8407503C8FDC}" destId="{7636E093-1AA7-485A-A64A-9B9DB635EE8F}" srcOrd="0" destOrd="0" presId="urn:microsoft.com/office/officeart/2005/8/layout/vList2"/>
    <dgm:cxn modelId="{CB96C77F-F512-47A5-AF34-7788413788BA}" srcId="{C8CC3D94-8A48-4FCC-9987-A2CFF3955C29}" destId="{B5F6A594-2701-4A22-A4F6-7EADF55B6EE5}" srcOrd="6" destOrd="0" parTransId="{B8A944A2-2F07-4414-9711-9D15B0F4496A}" sibTransId="{D44CDE22-D530-47CF-ADDA-B17EB06388D5}"/>
    <dgm:cxn modelId="{D6008484-AB07-40C1-B9D6-2B03AB2A40B4}" srcId="{C8CC3D94-8A48-4FCC-9987-A2CFF3955C29}" destId="{08567AFE-02F8-4218-B4EE-F82FDA653D81}" srcOrd="4" destOrd="0" parTransId="{DD6E0725-D3EF-41BC-B716-A6E2573BF863}" sibTransId="{EFFEA312-958E-4C7F-9203-2CE95F1EC477}"/>
    <dgm:cxn modelId="{57300890-59F5-43F7-A652-9A39D9CBB5C0}" type="presOf" srcId="{38514C40-0BA3-42EF-B6E2-19AE225D7565}" destId="{251CFB27-1078-4793-B369-5A2BE7920F3C}" srcOrd="0" destOrd="0" presId="urn:microsoft.com/office/officeart/2005/8/layout/vList2"/>
    <dgm:cxn modelId="{8C65D09F-B46D-44AA-B222-EA789EB4FEB0}" type="presOf" srcId="{08567AFE-02F8-4218-B4EE-F82FDA653D81}" destId="{C1C0B34C-CF00-4BBE-BF9D-9EE94E913210}" srcOrd="0" destOrd="0" presId="urn:microsoft.com/office/officeart/2005/8/layout/vList2"/>
    <dgm:cxn modelId="{B77155A4-BA71-4C40-8167-BB3307E095A9}" srcId="{C8CC3D94-8A48-4FCC-9987-A2CFF3955C29}" destId="{38514C40-0BA3-42EF-B6E2-19AE225D7565}" srcOrd="1" destOrd="0" parTransId="{012C4BFB-9EEF-46FA-AEF6-F36BD2485FDD}" sibTransId="{44F97064-A560-45D1-985B-8BA3EDDD5F4D}"/>
    <dgm:cxn modelId="{6A994FAA-DB74-4679-BCE4-90F9AF0E055A}" type="presOf" srcId="{6E99654D-F734-44AF-AC27-3DDEF3B2005A}" destId="{50D8B28B-86D6-435D-9E10-93139AEED7F8}" srcOrd="0" destOrd="0" presId="urn:microsoft.com/office/officeart/2005/8/layout/vList2"/>
    <dgm:cxn modelId="{DDEB2FBE-997D-4841-915D-3712470D9AC0}" srcId="{C8CC3D94-8A48-4FCC-9987-A2CFF3955C29}" destId="{6E99654D-F734-44AF-AC27-3DDEF3B2005A}" srcOrd="0" destOrd="0" parTransId="{0DF14949-BA4B-4214-A793-F5C1EFD50D87}" sibTransId="{4073FFF0-8A13-43FC-ABB2-C62D8B86768A}"/>
    <dgm:cxn modelId="{4C8DAACF-7199-4781-918C-07BC89ED1942}" type="presOf" srcId="{F2EBAFEA-E703-431F-AC5E-2AD52742188F}" destId="{42E5DAD5-5E68-44E4-9771-6E6F30867328}" srcOrd="0" destOrd="0" presId="urn:microsoft.com/office/officeart/2005/8/layout/vList2"/>
    <dgm:cxn modelId="{4839B4CF-8594-487E-BC80-209611495B1D}" type="presOf" srcId="{B5F6A594-2701-4A22-A4F6-7EADF55B6EE5}" destId="{ADB6753B-D448-4F0B-B386-2DF3E1DCC00B}" srcOrd="0" destOrd="0" presId="urn:microsoft.com/office/officeart/2005/8/layout/vList2"/>
    <dgm:cxn modelId="{881469E3-AB87-4E9C-A850-287E360899DC}" type="presParOf" srcId="{877F254E-0C3A-4DF9-8D69-858A532587B3}" destId="{50D8B28B-86D6-435D-9E10-93139AEED7F8}" srcOrd="0" destOrd="0" presId="urn:microsoft.com/office/officeart/2005/8/layout/vList2"/>
    <dgm:cxn modelId="{A594782E-76FD-403E-BD9D-15CD4433733A}" type="presParOf" srcId="{877F254E-0C3A-4DF9-8D69-858A532587B3}" destId="{9C8CBB24-0418-4EB3-A8EE-A5B4625E22D5}" srcOrd="1" destOrd="0" presId="urn:microsoft.com/office/officeart/2005/8/layout/vList2"/>
    <dgm:cxn modelId="{F13C9C79-D9CE-4608-B955-AABCA514F6E5}" type="presParOf" srcId="{877F254E-0C3A-4DF9-8D69-858A532587B3}" destId="{251CFB27-1078-4793-B369-5A2BE7920F3C}" srcOrd="2" destOrd="0" presId="urn:microsoft.com/office/officeart/2005/8/layout/vList2"/>
    <dgm:cxn modelId="{3AF174E8-5F85-407B-B927-314FD5E4FBF0}" type="presParOf" srcId="{877F254E-0C3A-4DF9-8D69-858A532587B3}" destId="{3EA6E3AF-3D43-4770-9E91-4AFCC5592179}" srcOrd="3" destOrd="0" presId="urn:microsoft.com/office/officeart/2005/8/layout/vList2"/>
    <dgm:cxn modelId="{CC4783F5-F3E2-4D9E-B1D5-F6BF07EA1441}" type="presParOf" srcId="{877F254E-0C3A-4DF9-8D69-858A532587B3}" destId="{7636E093-1AA7-485A-A64A-9B9DB635EE8F}" srcOrd="4" destOrd="0" presId="urn:microsoft.com/office/officeart/2005/8/layout/vList2"/>
    <dgm:cxn modelId="{BE58A2B9-C092-4A54-B3F5-F924EDD7FA74}" type="presParOf" srcId="{877F254E-0C3A-4DF9-8D69-858A532587B3}" destId="{592425C6-3201-4E79-8569-397604548398}" srcOrd="5" destOrd="0" presId="urn:microsoft.com/office/officeart/2005/8/layout/vList2"/>
    <dgm:cxn modelId="{ED4BB6FF-E61A-4AC2-9FAC-6C068C17BD97}" type="presParOf" srcId="{877F254E-0C3A-4DF9-8D69-858A532587B3}" destId="{565E116C-C824-4C25-A1D5-F10F135B1143}" srcOrd="6" destOrd="0" presId="urn:microsoft.com/office/officeart/2005/8/layout/vList2"/>
    <dgm:cxn modelId="{4018E4DD-6B8B-479E-8136-230315855B6F}" type="presParOf" srcId="{877F254E-0C3A-4DF9-8D69-858A532587B3}" destId="{9CB575EA-E6DA-4A42-A887-C2E89E3B2C31}" srcOrd="7" destOrd="0" presId="urn:microsoft.com/office/officeart/2005/8/layout/vList2"/>
    <dgm:cxn modelId="{CCFAF2A1-91CD-4786-AF3C-A796D00B2567}" type="presParOf" srcId="{877F254E-0C3A-4DF9-8D69-858A532587B3}" destId="{C1C0B34C-CF00-4BBE-BF9D-9EE94E913210}" srcOrd="8" destOrd="0" presId="urn:microsoft.com/office/officeart/2005/8/layout/vList2"/>
    <dgm:cxn modelId="{2CA4D524-6A64-448F-8A4A-0D73454D8A84}" type="presParOf" srcId="{877F254E-0C3A-4DF9-8D69-858A532587B3}" destId="{7CC9D9D1-EF45-4185-9EEF-A8628771890F}" srcOrd="9" destOrd="0" presId="urn:microsoft.com/office/officeart/2005/8/layout/vList2"/>
    <dgm:cxn modelId="{41665096-5865-4F0E-81DD-5623829C0459}" type="presParOf" srcId="{877F254E-0C3A-4DF9-8D69-858A532587B3}" destId="{42E5DAD5-5E68-44E4-9771-6E6F30867328}" srcOrd="10" destOrd="0" presId="urn:microsoft.com/office/officeart/2005/8/layout/vList2"/>
    <dgm:cxn modelId="{714FD585-1DCC-49F7-859A-3AD29ED2833E}" type="presParOf" srcId="{877F254E-0C3A-4DF9-8D69-858A532587B3}" destId="{9B37A2EA-0630-4A1D-90A5-48E80D2B23B8}" srcOrd="11" destOrd="0" presId="urn:microsoft.com/office/officeart/2005/8/layout/vList2"/>
    <dgm:cxn modelId="{7851E7BE-ECCA-41BB-A294-E68DB21FCA68}" type="presParOf" srcId="{877F254E-0C3A-4DF9-8D69-858A532587B3}" destId="{ADB6753B-D448-4F0B-B386-2DF3E1DCC00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221D5-29C9-4451-A67C-307D66943153}">
      <dsp:nvSpPr>
        <dsp:cNvPr id="0" name=""/>
        <dsp:cNvSpPr/>
      </dsp:nvSpPr>
      <dsp:spPr>
        <a:xfrm>
          <a:off x="0" y="726"/>
          <a:ext cx="8229600" cy="9079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rgbClr val="C00000"/>
              </a:solidFill>
            </a:rPr>
            <a:t>Экономические последствия ВГО :</a:t>
          </a:r>
          <a:endParaRPr lang="en-US" sz="2000" kern="1200" dirty="0">
            <a:solidFill>
              <a:srgbClr val="C00000"/>
            </a:solidFill>
          </a:endParaRPr>
        </a:p>
      </dsp:txBody>
      <dsp:txXfrm>
        <a:off x="44321" y="45047"/>
        <a:ext cx="8140958" cy="819281"/>
      </dsp:txXfrm>
    </dsp:sp>
    <dsp:sp modelId="{BC2042BE-90D5-4C6E-9165-38E519EAE1CC}">
      <dsp:nvSpPr>
        <dsp:cNvPr id="0" name=""/>
        <dsp:cNvSpPr/>
      </dsp:nvSpPr>
      <dsp:spPr>
        <a:xfrm>
          <a:off x="0" y="922163"/>
          <a:ext cx="8229600" cy="9079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tx1"/>
              </a:solidFill>
            </a:rPr>
            <a:t>Развитие товарно-денежных отношений 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44321" y="966484"/>
        <a:ext cx="8140958" cy="819281"/>
      </dsp:txXfrm>
    </dsp:sp>
    <dsp:sp modelId="{08012B68-DEDB-4ED1-A80F-C40F752E4799}">
      <dsp:nvSpPr>
        <dsp:cNvPr id="0" name=""/>
        <dsp:cNvSpPr/>
      </dsp:nvSpPr>
      <dsp:spPr>
        <a:xfrm>
          <a:off x="0" y="1843601"/>
          <a:ext cx="8229600" cy="9079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tx1"/>
              </a:solidFill>
            </a:rPr>
            <a:t>Становление рыночной экономики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44321" y="1887922"/>
        <a:ext cx="8140958" cy="819281"/>
      </dsp:txXfrm>
    </dsp:sp>
    <dsp:sp modelId="{440D800E-F961-438A-90C7-40A3DF8AF50A}">
      <dsp:nvSpPr>
        <dsp:cNvPr id="0" name=""/>
        <dsp:cNvSpPr/>
      </dsp:nvSpPr>
      <dsp:spPr>
        <a:xfrm>
          <a:off x="0" y="2765038"/>
          <a:ext cx="8229600" cy="9079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tx1"/>
              </a:solidFill>
            </a:rPr>
            <a:t>Развитие мануфактурного производства и предпринимательства        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44321" y="2809359"/>
        <a:ext cx="8140958" cy="819281"/>
      </dsp:txXfrm>
    </dsp:sp>
    <dsp:sp modelId="{3BB682E5-2862-42A4-88EA-20357AB8E946}">
      <dsp:nvSpPr>
        <dsp:cNvPr id="0" name=""/>
        <dsp:cNvSpPr/>
      </dsp:nvSpPr>
      <dsp:spPr>
        <a:xfrm>
          <a:off x="0" y="3686475"/>
          <a:ext cx="8229600" cy="9079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tx1"/>
              </a:solidFill>
            </a:rPr>
            <a:t>Возникновение торговых компаний, в </a:t>
          </a:r>
          <a:r>
            <a:rPr lang="ru-RU" sz="2000" b="1" kern="1200" dirty="0" err="1">
              <a:solidFill>
                <a:schemeClr val="tx1"/>
              </a:solidFill>
            </a:rPr>
            <a:t>т.ч</a:t>
          </a:r>
          <a:r>
            <a:rPr lang="ru-RU" sz="2000" b="1" kern="1200" dirty="0">
              <a:solidFill>
                <a:schemeClr val="tx1"/>
              </a:solidFill>
            </a:rPr>
            <a:t>. акционерные, биржи               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44321" y="3730796"/>
        <a:ext cx="8140958" cy="819281"/>
      </dsp:txXfrm>
    </dsp:sp>
    <dsp:sp modelId="{1985E245-1338-47F9-9505-F6984E2AF581}">
      <dsp:nvSpPr>
        <dsp:cNvPr id="0" name=""/>
        <dsp:cNvSpPr/>
      </dsp:nvSpPr>
      <dsp:spPr>
        <a:xfrm>
          <a:off x="0" y="4608639"/>
          <a:ext cx="8229600" cy="9079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solidFill>
                <a:schemeClr val="tx1"/>
              </a:solidFill>
            </a:rPr>
            <a:t>На смену ростовщичеству приходит банковский капитал, развивается кредит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44321" y="4652960"/>
        <a:ext cx="8140958" cy="8192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8B28B-86D6-435D-9E10-93139AEED7F8}">
      <dsp:nvSpPr>
        <dsp:cNvPr id="0" name=""/>
        <dsp:cNvSpPr/>
      </dsp:nvSpPr>
      <dsp:spPr>
        <a:xfrm>
          <a:off x="0" y="0"/>
          <a:ext cx="8686800" cy="7739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1" kern="1200" dirty="0">
              <a:solidFill>
                <a:schemeClr val="tx1"/>
              </a:solidFill>
            </a:rPr>
            <a:t>Отраслевая структура экономики Голландии:</a:t>
          </a:r>
          <a:endParaRPr lang="en-US" sz="2700" kern="1200" dirty="0">
            <a:solidFill>
              <a:schemeClr val="tx1"/>
            </a:solidFill>
          </a:endParaRPr>
        </a:p>
      </dsp:txBody>
      <dsp:txXfrm>
        <a:off x="37781" y="37781"/>
        <a:ext cx="8611238" cy="698393"/>
      </dsp:txXfrm>
    </dsp:sp>
    <dsp:sp modelId="{251CFB27-1078-4793-B369-5A2BE7920F3C}">
      <dsp:nvSpPr>
        <dsp:cNvPr id="0" name=""/>
        <dsp:cNvSpPr/>
      </dsp:nvSpPr>
      <dsp:spPr>
        <a:xfrm>
          <a:off x="0" y="858373"/>
          <a:ext cx="8686800" cy="7739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tx1"/>
              </a:solidFill>
            </a:rPr>
            <a:t>судостроение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7781" y="896154"/>
        <a:ext cx="8611238" cy="698393"/>
      </dsp:txXfrm>
    </dsp:sp>
    <dsp:sp modelId="{7636E093-1AA7-485A-A64A-9B9DB635EE8F}">
      <dsp:nvSpPr>
        <dsp:cNvPr id="0" name=""/>
        <dsp:cNvSpPr/>
      </dsp:nvSpPr>
      <dsp:spPr>
        <a:xfrm>
          <a:off x="0" y="1710089"/>
          <a:ext cx="8686800" cy="7739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tx1"/>
              </a:solidFill>
            </a:rPr>
            <a:t>рыболовство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7781" y="1747870"/>
        <a:ext cx="8611238" cy="698393"/>
      </dsp:txXfrm>
    </dsp:sp>
    <dsp:sp modelId="{565E116C-C824-4C25-A1D5-F10F135B1143}">
      <dsp:nvSpPr>
        <dsp:cNvPr id="0" name=""/>
        <dsp:cNvSpPr/>
      </dsp:nvSpPr>
      <dsp:spPr>
        <a:xfrm>
          <a:off x="0" y="2561804"/>
          <a:ext cx="8686800" cy="7739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tx1"/>
              </a:solidFill>
            </a:rPr>
            <a:t>сельское хозяйство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7781" y="2599585"/>
        <a:ext cx="8611238" cy="698393"/>
      </dsp:txXfrm>
    </dsp:sp>
    <dsp:sp modelId="{C1C0B34C-CF00-4BBE-BF9D-9EE94E913210}">
      <dsp:nvSpPr>
        <dsp:cNvPr id="0" name=""/>
        <dsp:cNvSpPr/>
      </dsp:nvSpPr>
      <dsp:spPr>
        <a:xfrm>
          <a:off x="0" y="3413519"/>
          <a:ext cx="8686800" cy="7739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tx1"/>
              </a:solidFill>
            </a:rPr>
            <a:t>торговля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7781" y="3451300"/>
        <a:ext cx="8611238" cy="698393"/>
      </dsp:txXfrm>
    </dsp:sp>
    <dsp:sp modelId="{42E5DAD5-5E68-44E4-9771-6E6F30867328}">
      <dsp:nvSpPr>
        <dsp:cNvPr id="0" name=""/>
        <dsp:cNvSpPr/>
      </dsp:nvSpPr>
      <dsp:spPr>
        <a:xfrm>
          <a:off x="0" y="4265234"/>
          <a:ext cx="8686800" cy="7739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tx1"/>
              </a:solidFill>
            </a:rPr>
            <a:t>финансы и кредит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7781" y="4303015"/>
        <a:ext cx="8611238" cy="698393"/>
      </dsp:txXfrm>
    </dsp:sp>
    <dsp:sp modelId="{ADB6753B-D448-4F0B-B386-2DF3E1DCC00B}">
      <dsp:nvSpPr>
        <dsp:cNvPr id="0" name=""/>
        <dsp:cNvSpPr/>
      </dsp:nvSpPr>
      <dsp:spPr>
        <a:xfrm>
          <a:off x="0" y="5116949"/>
          <a:ext cx="8686800" cy="7739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tx1"/>
              </a:solidFill>
            </a:rPr>
            <a:t>суконная промышленность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37781" y="5154730"/>
        <a:ext cx="8611238" cy="698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6613DDA-9DA6-AA3D-8598-26AC5B29D6D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6113263-B2FE-8875-68AD-2F658381899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45BF3500-CBC6-3BA5-EAE4-BD68C612AB08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2464456-192F-D6DA-14E5-7EA9FF4421C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75E7FB2-54E1-5F54-74B7-347BED0E86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90D5F99-9EE4-148B-08B9-AA76BBF1F7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24FB352-9D64-4B1B-BD14-80F87588B369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41B03E61-9557-2AF4-6F47-737E61ECFC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04663B-A256-4E12-A5B2-8360C898CECD}" type="slidenum">
              <a:rPr lang="ru-RU" altLang="ru-RU"/>
              <a:pPr>
                <a:spcBef>
                  <a:spcPct val="0"/>
                </a:spcBef>
              </a:pPr>
              <a:t>2</a:t>
            </a:fld>
            <a:endParaRPr lang="ru-RU" altLang="ru-RU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251E681-E3EC-5EDB-294E-408C3665FF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6EC88970-2098-7E8F-4D9C-1E140882F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>
            <a:extLst>
              <a:ext uri="{FF2B5EF4-FFF2-40B4-BE49-F238E27FC236}">
                <a16:creationId xmlns:a16="http://schemas.microsoft.com/office/drawing/2014/main" id="{AAFA141D-A295-2702-4723-0BE6EA36E8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Заметки 2">
            <a:extLst>
              <a:ext uri="{FF2B5EF4-FFF2-40B4-BE49-F238E27FC236}">
                <a16:creationId xmlns:a16="http://schemas.microsoft.com/office/drawing/2014/main" id="{B372C9CB-0F72-4670-6931-4E8C43DE2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8" name="Номер слайда 3">
            <a:extLst>
              <a:ext uri="{FF2B5EF4-FFF2-40B4-BE49-F238E27FC236}">
                <a16:creationId xmlns:a16="http://schemas.microsoft.com/office/drawing/2014/main" id="{98BE09D3-7287-7D77-1C40-024690042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67468B-8789-425F-A55B-0392197EF2B1}" type="slidenum">
              <a:rPr lang="ru-RU" altLang="ru-RU"/>
              <a:pPr>
                <a:spcBef>
                  <a:spcPct val="0"/>
                </a:spcBef>
              </a:pPr>
              <a:t>3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Образ слайда 1">
            <a:extLst>
              <a:ext uri="{FF2B5EF4-FFF2-40B4-BE49-F238E27FC236}">
                <a16:creationId xmlns:a16="http://schemas.microsoft.com/office/drawing/2014/main" id="{B602F248-6552-9240-FB11-7D79CF0E61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Заметки 2">
            <a:extLst>
              <a:ext uri="{FF2B5EF4-FFF2-40B4-BE49-F238E27FC236}">
                <a16:creationId xmlns:a16="http://schemas.microsoft.com/office/drawing/2014/main" id="{E849B402-F267-5D0F-EE5F-4ACF61BD0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Номер слайда 3">
            <a:extLst>
              <a:ext uri="{FF2B5EF4-FFF2-40B4-BE49-F238E27FC236}">
                <a16:creationId xmlns:a16="http://schemas.microsoft.com/office/drawing/2014/main" id="{43C22749-7C84-4E70-666B-CE03BD9D5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2088EB-F411-487B-BB74-4F35415E89EA}" type="slidenum">
              <a:rPr lang="ru-RU" altLang="ru-RU"/>
              <a:pPr>
                <a:spcBef>
                  <a:spcPct val="0"/>
                </a:spcBef>
              </a:pPr>
              <a:t>4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Образ слайда 1">
            <a:extLst>
              <a:ext uri="{FF2B5EF4-FFF2-40B4-BE49-F238E27FC236}">
                <a16:creationId xmlns:a16="http://schemas.microsoft.com/office/drawing/2014/main" id="{71A66BCF-6908-9DBC-C6F4-297BEA9548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Заметки 2">
            <a:extLst>
              <a:ext uri="{FF2B5EF4-FFF2-40B4-BE49-F238E27FC236}">
                <a16:creationId xmlns:a16="http://schemas.microsoft.com/office/drawing/2014/main" id="{627B1346-5768-0386-4274-D03BF8A4D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4" name="Номер слайда 3">
            <a:extLst>
              <a:ext uri="{FF2B5EF4-FFF2-40B4-BE49-F238E27FC236}">
                <a16:creationId xmlns:a16="http://schemas.microsoft.com/office/drawing/2014/main" id="{B7DC28B6-F6FE-2D88-ADBE-4ED657CFF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D3734B-7490-44EF-B254-D139491882DC}" type="slidenum">
              <a:rPr lang="ru-RU" altLang="ru-RU"/>
              <a:pPr>
                <a:spcBef>
                  <a:spcPct val="0"/>
                </a:spcBef>
              </a:pPr>
              <a:t>5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575200DC-477C-BECF-DFA0-19DA608256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539BDA-34F6-4619-AEE5-9A15FDD05B16}" type="slidenum">
              <a:rPr lang="ru-RU" altLang="ru-RU"/>
              <a:pPr>
                <a:spcBef>
                  <a:spcPct val="0"/>
                </a:spcBef>
              </a:pPr>
              <a:t>7</a:t>
            </a:fld>
            <a:endParaRPr lang="ru-RU" altLang="ru-RU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AA8D74F-AEF5-4077-816E-B08AEC44A36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4CE4304-54E3-D82A-8FCA-AF8F8A7BB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Образ слайда 1">
            <a:extLst>
              <a:ext uri="{FF2B5EF4-FFF2-40B4-BE49-F238E27FC236}">
                <a16:creationId xmlns:a16="http://schemas.microsoft.com/office/drawing/2014/main" id="{CBABC099-29A8-A4A5-0487-1C5379B32C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Заметки 2">
            <a:extLst>
              <a:ext uri="{FF2B5EF4-FFF2-40B4-BE49-F238E27FC236}">
                <a16:creationId xmlns:a16="http://schemas.microsoft.com/office/drawing/2014/main" id="{EE5163A0-C8CD-59CA-1D05-774A7B40C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4" name="Номер слайда 3">
            <a:extLst>
              <a:ext uri="{FF2B5EF4-FFF2-40B4-BE49-F238E27FC236}">
                <a16:creationId xmlns:a16="http://schemas.microsoft.com/office/drawing/2014/main" id="{E04D8A77-7B23-9559-E347-0B5E7B56B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26B68D-6AC7-41E1-868A-987E4EF24D51}" type="slidenum">
              <a:rPr lang="ru-RU" altLang="ru-RU"/>
              <a:pPr>
                <a:spcBef>
                  <a:spcPct val="0"/>
                </a:spcBef>
              </a:pPr>
              <a:t>8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Образ слайда 1">
            <a:extLst>
              <a:ext uri="{FF2B5EF4-FFF2-40B4-BE49-F238E27FC236}">
                <a16:creationId xmlns:a16="http://schemas.microsoft.com/office/drawing/2014/main" id="{EAA2B65E-92D1-1322-22B2-27788AFDDA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Заметки 2">
            <a:extLst>
              <a:ext uri="{FF2B5EF4-FFF2-40B4-BE49-F238E27FC236}">
                <a16:creationId xmlns:a16="http://schemas.microsoft.com/office/drawing/2014/main" id="{7E4E95A0-DFD5-22D8-A14E-07BD4ECCE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Номер слайда 3">
            <a:extLst>
              <a:ext uri="{FF2B5EF4-FFF2-40B4-BE49-F238E27FC236}">
                <a16:creationId xmlns:a16="http://schemas.microsoft.com/office/drawing/2014/main" id="{6B9185AA-96DD-5FC4-6BE7-584E0C7E3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77BA5B-9098-46AE-83AD-2580BFB4DDDD}" type="slidenum">
              <a:rPr lang="ru-RU" altLang="ru-RU"/>
              <a:pPr>
                <a:spcBef>
                  <a:spcPct val="0"/>
                </a:spcBef>
              </a:pPr>
              <a:t>9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>
            <a:extLst>
              <a:ext uri="{FF2B5EF4-FFF2-40B4-BE49-F238E27FC236}">
                <a16:creationId xmlns:a16="http://schemas.microsoft.com/office/drawing/2014/main" id="{BA1E0ACE-34AC-B5D0-4F34-8664B87D31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Заметки 2">
            <a:extLst>
              <a:ext uri="{FF2B5EF4-FFF2-40B4-BE49-F238E27FC236}">
                <a16:creationId xmlns:a16="http://schemas.microsoft.com/office/drawing/2014/main" id="{8D65D0D5-027D-A772-6CCF-44F25A8BD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40" name="Номер слайда 3">
            <a:extLst>
              <a:ext uri="{FF2B5EF4-FFF2-40B4-BE49-F238E27FC236}">
                <a16:creationId xmlns:a16="http://schemas.microsoft.com/office/drawing/2014/main" id="{7A66FD3A-3FBD-8738-2B7E-46756E81E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3390267-8C94-4749-8F45-63B6457D06E0}" type="slidenum">
              <a:rPr lang="ru-RU" altLang="ru-RU"/>
              <a:pPr>
                <a:spcBef>
                  <a:spcPct val="0"/>
                </a:spcBef>
              </a:pPr>
              <a:t>10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813C9991-997D-C8B3-882E-9FFDC4FEF4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C1015-90D0-4B8C-A0BB-61419039CA77}" type="slidenum">
              <a:rPr lang="ru-RU" altLang="ru-RU"/>
              <a:pPr>
                <a:spcBef>
                  <a:spcPct val="0"/>
                </a:spcBef>
              </a:pPr>
              <a:t>11</a:t>
            </a:fld>
            <a:endParaRPr lang="ru-RU" altLang="ru-RU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25B6209A-C3C1-707A-92A5-F1652E6A724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5DE796EB-446B-2A45-4D69-C531B969B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Образ слайда 1">
            <a:extLst>
              <a:ext uri="{FF2B5EF4-FFF2-40B4-BE49-F238E27FC236}">
                <a16:creationId xmlns:a16="http://schemas.microsoft.com/office/drawing/2014/main" id="{F54BF99E-12A2-D12A-BC71-97CE198D31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Заметки 2">
            <a:extLst>
              <a:ext uri="{FF2B5EF4-FFF2-40B4-BE49-F238E27FC236}">
                <a16:creationId xmlns:a16="http://schemas.microsoft.com/office/drawing/2014/main" id="{95248742-0FB7-0213-798F-7012F719C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6" name="Номер слайда 3">
            <a:extLst>
              <a:ext uri="{FF2B5EF4-FFF2-40B4-BE49-F238E27FC236}">
                <a16:creationId xmlns:a16="http://schemas.microsoft.com/office/drawing/2014/main" id="{73B9F7D2-78A0-5ACD-48F3-85B5BC505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FE02EF3-4A96-493A-9F02-375EC7A3A8E8}" type="slidenum">
              <a:rPr lang="ru-RU" altLang="ru-RU"/>
              <a:pPr>
                <a:spcBef>
                  <a:spcPct val="0"/>
                </a:spcBef>
              </a:pPr>
              <a:t>12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Образ слайда 1">
            <a:extLst>
              <a:ext uri="{FF2B5EF4-FFF2-40B4-BE49-F238E27FC236}">
                <a16:creationId xmlns:a16="http://schemas.microsoft.com/office/drawing/2014/main" id="{50262E64-862C-3B0B-DFC6-963AC314A8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Заметки 2">
            <a:extLst>
              <a:ext uri="{FF2B5EF4-FFF2-40B4-BE49-F238E27FC236}">
                <a16:creationId xmlns:a16="http://schemas.microsoft.com/office/drawing/2014/main" id="{55DB5FC8-1AEF-5A9E-1928-92AC0CD3E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4" name="Номер слайда 3">
            <a:extLst>
              <a:ext uri="{FF2B5EF4-FFF2-40B4-BE49-F238E27FC236}">
                <a16:creationId xmlns:a16="http://schemas.microsoft.com/office/drawing/2014/main" id="{8EDB2408-F073-7262-AC64-E3B073401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C53116-EC93-46B3-996B-48FABAA20862}" type="slidenum">
              <a:rPr lang="ru-RU" altLang="ru-RU"/>
              <a:pPr>
                <a:spcBef>
                  <a:spcPct val="0"/>
                </a:spcBef>
              </a:pPr>
              <a:t>13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Образ слайда 1">
            <a:extLst>
              <a:ext uri="{FF2B5EF4-FFF2-40B4-BE49-F238E27FC236}">
                <a16:creationId xmlns:a16="http://schemas.microsoft.com/office/drawing/2014/main" id="{AB10D4A7-F149-3610-DF2D-76F533F588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Заметки 2">
            <a:extLst>
              <a:ext uri="{FF2B5EF4-FFF2-40B4-BE49-F238E27FC236}">
                <a16:creationId xmlns:a16="http://schemas.microsoft.com/office/drawing/2014/main" id="{2E0C505A-7E01-9FD9-D959-D41DAEA24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2" name="Номер слайда 3">
            <a:extLst>
              <a:ext uri="{FF2B5EF4-FFF2-40B4-BE49-F238E27FC236}">
                <a16:creationId xmlns:a16="http://schemas.microsoft.com/office/drawing/2014/main" id="{FEF715EF-9D99-AEAC-793F-921815A77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E3A4E3-F107-463D-94C9-2E8F9608D2EE}" type="slidenum">
              <a:rPr lang="ru-RU" altLang="ru-RU"/>
              <a:pPr>
                <a:spcBef>
                  <a:spcPct val="0"/>
                </a:spcBef>
              </a:pPr>
              <a:t>14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AA2AEA6F-29DD-D308-E592-622F25DCD4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6FFA78-F1B0-4DE8-A3A1-C5E2A52995E2}" type="slidenum">
              <a:rPr lang="ru-RU" altLang="ru-RU"/>
              <a:pPr>
                <a:spcBef>
                  <a:spcPct val="0"/>
                </a:spcBef>
              </a:pPr>
              <a:t>15</a:t>
            </a:fld>
            <a:endParaRPr lang="ru-RU" altLang="ru-RU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E8CDA3DE-A20E-72E2-64D8-51BBAFFED00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08A9AA51-49CC-E0C5-62E3-42BF0B205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9F0253DE-DEAF-3FAD-6FD9-4F7FFB429D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64EA34-B841-463D-9956-92CB46B9E250}" type="slidenum">
              <a:rPr lang="ru-RU" altLang="ru-RU"/>
              <a:pPr>
                <a:spcBef>
                  <a:spcPct val="0"/>
                </a:spcBef>
              </a:pPr>
              <a:t>16</a:t>
            </a:fld>
            <a:endParaRPr lang="ru-RU" altLang="ru-RU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4EF6FD06-2125-23F7-2626-5E7FC88CB2F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7AF61A85-13A2-7365-C17F-0D3169A9CE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Образ слайда 1">
            <a:extLst>
              <a:ext uri="{FF2B5EF4-FFF2-40B4-BE49-F238E27FC236}">
                <a16:creationId xmlns:a16="http://schemas.microsoft.com/office/drawing/2014/main" id="{3E9A983D-E1B2-D1BA-9A6F-D98CE2F11C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Заметки 2">
            <a:extLst>
              <a:ext uri="{FF2B5EF4-FFF2-40B4-BE49-F238E27FC236}">
                <a16:creationId xmlns:a16="http://schemas.microsoft.com/office/drawing/2014/main" id="{552CAB88-5FF2-BA91-101B-1817C3AF8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6" name="Номер слайда 3">
            <a:extLst>
              <a:ext uri="{FF2B5EF4-FFF2-40B4-BE49-F238E27FC236}">
                <a16:creationId xmlns:a16="http://schemas.microsoft.com/office/drawing/2014/main" id="{C3012120-0DAE-2669-3D22-070089F8D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6A79F8C-E9D8-4B41-94B8-44192801785A}" type="slidenum">
              <a:rPr lang="ru-RU" altLang="ru-RU"/>
              <a:pPr>
                <a:spcBef>
                  <a:spcPct val="0"/>
                </a:spcBef>
              </a:pPr>
              <a:t>17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Образ слайда 1">
            <a:extLst>
              <a:ext uri="{FF2B5EF4-FFF2-40B4-BE49-F238E27FC236}">
                <a16:creationId xmlns:a16="http://schemas.microsoft.com/office/drawing/2014/main" id="{17CA9F77-EF39-E871-E28A-9D9F0F07E0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Заметки 2">
            <a:extLst>
              <a:ext uri="{FF2B5EF4-FFF2-40B4-BE49-F238E27FC236}">
                <a16:creationId xmlns:a16="http://schemas.microsoft.com/office/drawing/2014/main" id="{E2B18D09-B31D-EA90-C1AA-74D69AB0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4" name="Номер слайда 3">
            <a:extLst>
              <a:ext uri="{FF2B5EF4-FFF2-40B4-BE49-F238E27FC236}">
                <a16:creationId xmlns:a16="http://schemas.microsoft.com/office/drawing/2014/main" id="{740C6217-FB74-41D3-8DDE-70EB4E3CE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79B5BF-8FD1-493B-9666-C4E576E0F714}" type="slidenum">
              <a:rPr lang="ru-RU" altLang="ru-RU"/>
              <a:pPr>
                <a:spcBef>
                  <a:spcPct val="0"/>
                </a:spcBef>
              </a:pPr>
              <a:t>18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4D016588-F6D6-2467-0EA4-58EE6E25D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099097-4E00-4355-A4BD-2125009F2542}" type="slidenum">
              <a:rPr lang="ru-RU" altLang="ru-RU"/>
              <a:pPr>
                <a:spcBef>
                  <a:spcPct val="0"/>
                </a:spcBef>
              </a:pPr>
              <a:t>19</a:t>
            </a:fld>
            <a:endParaRPr lang="ru-RU" altLang="ru-RU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C1415798-108F-4CE1-0820-BAC6A96EEC7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EF68DBFF-CC8E-4EBA-A8A8-2EAFE4EBA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863C54FF-7790-4C7C-89DE-14892905BC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E4AA21-0EB1-4D48-B39B-8C86635BEE1F}" type="slidenum">
              <a:rPr lang="ru-RU" altLang="ru-RU"/>
              <a:pPr>
                <a:spcBef>
                  <a:spcPct val="0"/>
                </a:spcBef>
              </a:pPr>
              <a:t>20</a:t>
            </a:fld>
            <a:endParaRPr lang="ru-RU" altLang="ru-RU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8F95F7F9-D67B-BB3E-0A90-2363D7D5212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12608A79-3358-51CE-2596-3214615B5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7E8C978E-065E-6C76-F73D-A6F1497328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D82005-1965-4F8E-B9A5-4F7DFB45ED19}" type="slidenum">
              <a:rPr lang="ru-RU" altLang="ru-RU"/>
              <a:pPr>
                <a:spcBef>
                  <a:spcPct val="0"/>
                </a:spcBef>
              </a:pPr>
              <a:t>21</a:t>
            </a:fld>
            <a:endParaRPr lang="ru-RU" altLang="ru-RU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35E4F3A7-9106-FA30-5F88-915F0C2ED2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692FB27D-CF29-4496-9B67-14626C6B00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Образ слайда 1">
            <a:extLst>
              <a:ext uri="{FF2B5EF4-FFF2-40B4-BE49-F238E27FC236}">
                <a16:creationId xmlns:a16="http://schemas.microsoft.com/office/drawing/2014/main" id="{49D9F0D7-A388-ECEA-1861-A5C61D089A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Заметки 2">
            <a:extLst>
              <a:ext uri="{FF2B5EF4-FFF2-40B4-BE49-F238E27FC236}">
                <a16:creationId xmlns:a16="http://schemas.microsoft.com/office/drawing/2014/main" id="{8209A3DE-E013-769B-8EBA-1A9649F87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16" name="Номер слайда 3">
            <a:extLst>
              <a:ext uri="{FF2B5EF4-FFF2-40B4-BE49-F238E27FC236}">
                <a16:creationId xmlns:a16="http://schemas.microsoft.com/office/drawing/2014/main" id="{265E9FB7-0B48-DB5C-143B-35D4CD79A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40FF7E-3CA3-41FF-B8D9-82D7B1005AA7}" type="slidenum">
              <a:rPr lang="ru-RU" altLang="ru-RU"/>
              <a:pPr>
                <a:spcBef>
                  <a:spcPct val="0"/>
                </a:spcBef>
              </a:pPr>
              <a:t>22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97914B26-31D8-3EED-6F0B-88B2B72015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3DE7F7-E801-4F7A-B70A-3587E0424D8A}" type="slidenum">
              <a:rPr lang="ru-RU" altLang="ru-RU"/>
              <a:pPr>
                <a:spcBef>
                  <a:spcPct val="0"/>
                </a:spcBef>
              </a:pPr>
              <a:t>23</a:t>
            </a:fld>
            <a:endParaRPr lang="ru-RU" altLang="ru-RU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485D79F-F26D-1169-3B2D-486DB72D455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C7E770DC-7190-A977-10BE-E41F9C1F0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E274856E-D3F9-E4AF-C056-7B1B52FD8D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E7E98D-2030-43F8-9448-15B277254EE3}" type="slidenum">
              <a:rPr lang="ru-RU" altLang="ru-RU"/>
              <a:pPr>
                <a:spcBef>
                  <a:spcPct val="0"/>
                </a:spcBef>
              </a:pPr>
              <a:t>27</a:t>
            </a:fld>
            <a:endParaRPr lang="ru-RU" altLang="ru-RU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0006AE57-14FD-F07F-B7EC-B2A72428E24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F85B7221-383C-3FCE-783A-3AFA96F79D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1F020E44-F0F3-88CF-AB63-FA86CA59A2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BF6D09-BBF3-41EF-90DF-42AFB0B4B4F1}" type="slidenum">
              <a:rPr lang="ru-RU" altLang="ru-RU"/>
              <a:pPr>
                <a:spcBef>
                  <a:spcPct val="0"/>
                </a:spcBef>
              </a:pPr>
              <a:t>28</a:t>
            </a:fld>
            <a:endParaRPr lang="ru-RU" altLang="ru-RU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8F50879-046F-301C-004D-90752861D9B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3442EB88-8F06-F901-0607-EF1C048EEF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ый треугольник 1">
            <a:extLst>
              <a:ext uri="{FF2B5EF4-FFF2-40B4-BE49-F238E27FC236}">
                <a16:creationId xmlns:a16="http://schemas.microsoft.com/office/drawing/2014/main" id="{3201A82A-8444-CE32-3C51-C97C66B3DEBE}"/>
              </a:ext>
            </a:extLst>
          </p:cNvPr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Группа 15">
            <a:extLst>
              <a:ext uri="{FF2B5EF4-FFF2-40B4-BE49-F238E27FC236}">
                <a16:creationId xmlns:a16="http://schemas.microsoft.com/office/drawing/2014/main" id="{2A766807-EC04-3C51-3A8A-D83AF06580CD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4" name="Полилиния 15">
              <a:extLst>
                <a:ext uri="{FF2B5EF4-FFF2-40B4-BE49-F238E27FC236}">
                  <a16:creationId xmlns:a16="http://schemas.microsoft.com/office/drawing/2014/main" id="{B3C0B115-4C24-0465-98D4-A6F1975D7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5" name="Полилиния 18">
              <a:extLst>
                <a:ext uri="{FF2B5EF4-FFF2-40B4-BE49-F238E27FC236}">
                  <a16:creationId xmlns:a16="http://schemas.microsoft.com/office/drawing/2014/main" id="{8CA372D5-6E91-4394-6B4E-9CA966562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Полилиния 18">
              <a:extLst>
                <a:ext uri="{FF2B5EF4-FFF2-40B4-BE49-F238E27FC236}">
                  <a16:creationId xmlns:a16="http://schemas.microsoft.com/office/drawing/2014/main" id="{447AD5F7-3182-A30C-9C90-26B602850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888EA3AB-1BD7-EE0D-EBC3-D2813A18A1B4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8" name="Дата 29">
            <a:extLst>
              <a:ext uri="{FF2B5EF4-FFF2-40B4-BE49-F238E27FC236}">
                <a16:creationId xmlns:a16="http://schemas.microsoft.com/office/drawing/2014/main" id="{9176B0B8-E11B-4B3F-CCFB-6D114B86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10" name="Нижний колонтитул 18">
            <a:extLst>
              <a:ext uri="{FF2B5EF4-FFF2-40B4-BE49-F238E27FC236}">
                <a16:creationId xmlns:a16="http://schemas.microsoft.com/office/drawing/2014/main" id="{56E228C8-CDAE-78A0-63E6-F15D4224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11" name="Номер слайда 26">
            <a:extLst>
              <a:ext uri="{FF2B5EF4-FFF2-40B4-BE49-F238E27FC236}">
                <a16:creationId xmlns:a16="http://schemas.microsoft.com/office/drawing/2014/main" id="{C33638F9-3B10-EEF5-5749-762937E7F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AC5DA39-B774-403F-8113-54A6A8193F8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6253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" name="Дата 9">
            <a:extLst>
              <a:ext uri="{FF2B5EF4-FFF2-40B4-BE49-F238E27FC236}">
                <a16:creationId xmlns:a16="http://schemas.microsoft.com/office/drawing/2014/main" id="{1AF14906-F516-47C2-C65A-92E22B95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ижний колонтитул 21">
            <a:extLst>
              <a:ext uri="{FF2B5EF4-FFF2-40B4-BE49-F238E27FC236}">
                <a16:creationId xmlns:a16="http://schemas.microsoft.com/office/drawing/2014/main" id="{11777C0F-3D3B-CC36-86AF-F0E16D79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17">
            <a:extLst>
              <a:ext uri="{FF2B5EF4-FFF2-40B4-BE49-F238E27FC236}">
                <a16:creationId xmlns:a16="http://schemas.microsoft.com/office/drawing/2014/main" id="{838A1E42-F0F6-A6E0-575B-08434CA9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90FA93-512A-4C64-9686-9E5804227EC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84560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ашивка 10">
            <a:extLst>
              <a:ext uri="{FF2B5EF4-FFF2-40B4-BE49-F238E27FC236}">
                <a16:creationId xmlns:a16="http://schemas.microsoft.com/office/drawing/2014/main" id="{505BE622-B76F-1C99-BCE8-7D654F787E06}"/>
              </a:ext>
            </a:extLst>
          </p:cNvPr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Нашивка 11">
            <a:extLst>
              <a:ext uri="{FF2B5EF4-FFF2-40B4-BE49-F238E27FC236}">
                <a16:creationId xmlns:a16="http://schemas.microsoft.com/office/drawing/2014/main" id="{BAD3853D-6CDA-2E6B-742B-74D7687123F0}"/>
              </a:ext>
            </a:extLst>
          </p:cNvPr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Дата 3">
            <a:extLst>
              <a:ext uri="{FF2B5EF4-FFF2-40B4-BE49-F238E27FC236}">
                <a16:creationId xmlns:a16="http://schemas.microsoft.com/office/drawing/2014/main" id="{5A1C8E93-7A59-A58F-C773-39C06B346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D583364F-3275-A2FB-2853-F8EA58C0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08BC6470-547A-BE09-7B4C-AA0C1759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95531-129B-4650-88FD-AEB66CED359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06398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" name="Дата 4">
            <a:extLst>
              <a:ext uri="{FF2B5EF4-FFF2-40B4-BE49-F238E27FC236}">
                <a16:creationId xmlns:a16="http://schemas.microsoft.com/office/drawing/2014/main" id="{A1688658-E599-9184-CB96-3BDF15292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5">
            <a:extLst>
              <a:ext uri="{FF2B5EF4-FFF2-40B4-BE49-F238E27FC236}">
                <a16:creationId xmlns:a16="http://schemas.microsoft.com/office/drawing/2014/main" id="{6E4486CA-9B2B-D221-5F04-568CE2C8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6">
            <a:extLst>
              <a:ext uri="{FF2B5EF4-FFF2-40B4-BE49-F238E27FC236}">
                <a16:creationId xmlns:a16="http://schemas.microsoft.com/office/drawing/2014/main" id="{1589B823-EEFE-24DD-D841-733E943B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AC5A21-4E12-46FC-A1E1-DF4C8A22E94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44117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1EE172D-98C7-C8AE-9CCC-81DC0161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139223E-D448-3C9F-0828-E0DD1526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ABEE8E4-F6DD-41ED-9FD1-AC40117A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E8072E-8128-4FB8-BBC4-DA4A3D6B200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1346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" name="Дата 2">
            <a:extLst>
              <a:ext uri="{FF2B5EF4-FFF2-40B4-BE49-F238E27FC236}">
                <a16:creationId xmlns:a16="http://schemas.microsoft.com/office/drawing/2014/main" id="{F77B58BD-C2E5-08A7-A52B-58CCEB62E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3" name="Нижний колонтитул 3">
            <a:extLst>
              <a:ext uri="{FF2B5EF4-FFF2-40B4-BE49-F238E27FC236}">
                <a16:creationId xmlns:a16="http://schemas.microsoft.com/office/drawing/2014/main" id="{17A8E526-3A3D-43CA-7199-11025AB5E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4">
            <a:extLst>
              <a:ext uri="{FF2B5EF4-FFF2-40B4-BE49-F238E27FC236}">
                <a16:creationId xmlns:a16="http://schemas.microsoft.com/office/drawing/2014/main" id="{B0B400DA-433C-27D6-1D4A-40374AFA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6CE17D-D1E3-4F2E-BE7A-56D97249BE8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01590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9">
            <a:extLst>
              <a:ext uri="{FF2B5EF4-FFF2-40B4-BE49-F238E27FC236}">
                <a16:creationId xmlns:a16="http://schemas.microsoft.com/office/drawing/2014/main" id="{26FC1002-9A4C-3F0A-8F72-F2ED0793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ижний колонтитул 21">
            <a:extLst>
              <a:ext uri="{FF2B5EF4-FFF2-40B4-BE49-F238E27FC236}">
                <a16:creationId xmlns:a16="http://schemas.microsoft.com/office/drawing/2014/main" id="{9D704CA9-E015-238E-B8ED-FB95D9023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17">
            <a:extLst>
              <a:ext uri="{FF2B5EF4-FFF2-40B4-BE49-F238E27FC236}">
                <a16:creationId xmlns:a16="http://schemas.microsoft.com/office/drawing/2014/main" id="{1BE8D228-8C82-7C5F-EA19-12F82433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85FD8D-1FD2-4A56-B004-0E2945C1C32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6406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6048BA-1E64-FA3B-3687-82E2EE8E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324B80-A5F1-573F-599A-F6494408C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F70F70-B917-5ABC-72B5-DE8017FC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3D293-52D5-47CC-B6C5-B8D8FF0BDA9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76135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10">
            <a:extLst>
              <a:ext uri="{FF2B5EF4-FFF2-40B4-BE49-F238E27FC236}">
                <a16:creationId xmlns:a16="http://schemas.microsoft.com/office/drawing/2014/main" id="{C6C2D83E-FC5E-3ECF-C761-2F1EC94B43D3}"/>
              </a:ext>
            </a:extLst>
          </p:cNvPr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6" name="Полилиния 15">
            <a:extLst>
              <a:ext uri="{FF2B5EF4-FFF2-40B4-BE49-F238E27FC236}">
                <a16:creationId xmlns:a16="http://schemas.microsoft.com/office/drawing/2014/main" id="{A022F942-2272-C762-8511-DB79932D2B3E}"/>
              </a:ext>
            </a:extLst>
          </p:cNvPr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" name="Прямоугольный треугольник 6">
            <a:extLst>
              <a:ext uri="{FF2B5EF4-FFF2-40B4-BE49-F238E27FC236}">
                <a16:creationId xmlns:a16="http://schemas.microsoft.com/office/drawing/2014/main" id="{5C7B710F-99E1-C178-96B1-68814C06D78E}"/>
              </a:ext>
            </a:extLst>
          </p:cNvPr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2A5EE11-1C91-5E4C-9E33-2CA7D8AEF1A3}"/>
              </a:ext>
            </a:extLst>
          </p:cNvPr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Нашивка 18">
            <a:extLst>
              <a:ext uri="{FF2B5EF4-FFF2-40B4-BE49-F238E27FC236}">
                <a16:creationId xmlns:a16="http://schemas.microsoft.com/office/drawing/2014/main" id="{788AD5A5-010A-2704-B053-BB7A6B4D8700}"/>
              </a:ext>
            </a:extLst>
          </p:cNvPr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Нашивка 19">
            <a:extLst>
              <a:ext uri="{FF2B5EF4-FFF2-40B4-BE49-F238E27FC236}">
                <a16:creationId xmlns:a16="http://schemas.microsoft.com/office/drawing/2014/main" id="{22BBADD3-078D-8129-EF04-2100A2C2165F}"/>
              </a:ext>
            </a:extLst>
          </p:cNvPr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Дата 4">
            <a:extLst>
              <a:ext uri="{FF2B5EF4-FFF2-40B4-BE49-F238E27FC236}">
                <a16:creationId xmlns:a16="http://schemas.microsoft.com/office/drawing/2014/main" id="{44AC24B2-6040-9D79-E369-078FB1A79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12" name="Нижний колонтитул 5">
            <a:extLst>
              <a:ext uri="{FF2B5EF4-FFF2-40B4-BE49-F238E27FC236}">
                <a16:creationId xmlns:a16="http://schemas.microsoft.com/office/drawing/2014/main" id="{ECE82546-8EFA-65BA-C91D-D7526093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13" name="Номер слайда 6">
            <a:extLst>
              <a:ext uri="{FF2B5EF4-FFF2-40B4-BE49-F238E27FC236}">
                <a16:creationId xmlns:a16="http://schemas.microsoft.com/office/drawing/2014/main" id="{F2774627-05F1-4B22-F952-6456DC25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B98BE0-1E1C-4E22-AE13-C07D331F82C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96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9">
            <a:extLst>
              <a:ext uri="{FF2B5EF4-FFF2-40B4-BE49-F238E27FC236}">
                <a16:creationId xmlns:a16="http://schemas.microsoft.com/office/drawing/2014/main" id="{D4B2A5CB-9033-95DD-D5AB-5302924C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21">
            <a:extLst>
              <a:ext uri="{FF2B5EF4-FFF2-40B4-BE49-F238E27FC236}">
                <a16:creationId xmlns:a16="http://schemas.microsoft.com/office/drawing/2014/main" id="{0A28C12E-033C-8997-2112-2A2E7E62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>
            <a:extLst>
              <a:ext uri="{FF2B5EF4-FFF2-40B4-BE49-F238E27FC236}">
                <a16:creationId xmlns:a16="http://schemas.microsoft.com/office/drawing/2014/main" id="{9BA8E30A-900F-18BB-F321-A936EB8E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7989E-E2F4-44CC-9F52-DD2F898660A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453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9">
            <a:extLst>
              <a:ext uri="{FF2B5EF4-FFF2-40B4-BE49-F238E27FC236}">
                <a16:creationId xmlns:a16="http://schemas.microsoft.com/office/drawing/2014/main" id="{330023BC-F3DA-AB6F-AE65-27391781F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21">
            <a:extLst>
              <a:ext uri="{FF2B5EF4-FFF2-40B4-BE49-F238E27FC236}">
                <a16:creationId xmlns:a16="http://schemas.microsoft.com/office/drawing/2014/main" id="{686C15CA-FD3F-20DB-8EF8-20425ABD2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>
            <a:extLst>
              <a:ext uri="{FF2B5EF4-FFF2-40B4-BE49-F238E27FC236}">
                <a16:creationId xmlns:a16="http://schemas.microsoft.com/office/drawing/2014/main" id="{B9BFCF08-B1DE-CB20-5641-AC25D90C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F8DA0C-AEA2-459D-A08B-3507396D853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447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EF332-83F3-B017-D0E7-1F165237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5D414AD-1596-4042-9512-AA2ADA28219A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685F86-EC75-6C08-05F5-4FA3E672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D2F7D5-0CE7-5D47-6CF7-9C245A10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37B38EB-6AAF-4787-9000-43978C55B4A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43451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E6919A-44A7-0BA8-1E33-1732E8CC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3538DCF-D340-4591-B024-1B3C554F5137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B87939-C270-8626-8A07-A5F86441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2CB60E-96F6-933A-F949-8F2B565C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FED6AC0-3FFB-4800-8E98-C501C625572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8284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AE65FE-C4E9-2B79-FB50-27C6E6979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AC58EB4-9D4F-4637-9CBD-6240EF9B9C2C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98CF69-ECA7-EF86-2568-032318829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9CECE5-B4FB-6782-5BE5-4978461D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1B550066-5B52-493F-82B1-9172C405429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72097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EBA547-8BCD-05AD-4BE8-E55FC6BD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3C1CAAA-E9B3-4713-8BA0-9439EF412B42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75BE13-F89D-A28F-1C2C-6705C80F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C69D42-5C06-0474-3B9D-724B1D95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F8E4B1F7-3019-41D0-9110-629D8DEADD3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61900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1FC084-8E9C-B3DE-88A6-7F68505A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2E74B1C-5CBD-4770-BCE2-1AD11E6476CF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55EBD2-5D89-1C7D-77BF-6398CCA7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6A6FFC3-623F-4614-0B16-5105BBA44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1239B2F-9D88-49A7-B50E-9CC7B04C91A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14013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57977D-7EBB-7335-890F-34EB4896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4A852A7-7227-4444-9059-4D8DCF60E516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B59C7C5-45CD-7512-0A2D-4CA2FE9A2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5FB572-2881-A612-46A1-FEDDF17B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7ABE1CB4-F641-45B5-95D3-0B6221EB445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344064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598635F-1211-A11D-D614-2E6A832DD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9D5D2D1-B134-432E-99D6-F54CF7A50450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06BD77B-3637-AF55-C774-62E72223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F06443-113D-7C6D-7999-A53B8F59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959266B6-D8F8-4547-ABE6-C47F20C2374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65787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EEB8B1-E044-20E5-A434-31DEB61BB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696F10-E73D-4155-B4EB-E1247DE03A99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2714A9-9A1F-21F5-2B65-864023AD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C366BD-AB0F-1CAB-A65F-504AA2B5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06054DA-C51C-492A-AD89-3790D18231B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197995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0BA13D-F1D8-972A-76C2-087C2CF34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5392546-37AC-4CEB-BE9F-861BDF5A7D0F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193EE6-BFE4-2D84-2EC9-71D7B9F8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220E12-E7F4-E10A-61AA-59CAAC8B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93438B78-C501-4CC4-AE75-244AF2FA3FA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044643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599157-2B3D-06B9-DB79-66971AED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9038957-7713-48FA-95D5-930D66CD1F04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3C9A86-5A7B-6AC1-2431-D72EC04DD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DDFD55-ADD3-EE17-0605-51A696AA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CA96B04-D96C-4083-A834-4FC8C2C3727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29656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BFFADA-797C-CF43-94EF-ECC09D3C5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D4ADC00-253E-4A4B-8040-187BC2FF1C2C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330585-DB20-5F51-CCFE-3851FC04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4DCC54-679E-B4BD-F5E0-4A16D79F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10A37CA6-8334-4E02-9C86-1B4B5BF78C1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5784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013BBA35-93EF-8BF0-7665-B8712F3E88B1}"/>
              </a:ext>
            </a:extLst>
          </p:cNvPr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27" name="Полилиния 11">
            <a:extLst>
              <a:ext uri="{FF2B5EF4-FFF2-40B4-BE49-F238E27FC236}">
                <a16:creationId xmlns:a16="http://schemas.microsoft.com/office/drawing/2014/main" id="{1DA2511A-19B6-0A76-82B9-034D7AF9F517}"/>
              </a:ext>
            </a:extLst>
          </p:cNvPr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ый треугольник 13">
            <a:extLst>
              <a:ext uri="{FF2B5EF4-FFF2-40B4-BE49-F238E27FC236}">
                <a16:creationId xmlns:a16="http://schemas.microsoft.com/office/drawing/2014/main" id="{6CAA3A15-10AB-CB4D-61C3-1F78479BA3D3}"/>
              </a:ext>
            </a:extLst>
          </p:cNvPr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99EC845-6328-A388-81D4-5AE74A549B7F}"/>
              </a:ext>
            </a:extLst>
          </p:cNvPr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D144BE4-8CFA-338B-F4FE-3E81077C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33" name="Текст 29">
            <a:extLst>
              <a:ext uri="{FF2B5EF4-FFF2-40B4-BE49-F238E27FC236}">
                <a16:creationId xmlns:a16="http://schemas.microsoft.com/office/drawing/2014/main" id="{C4847706-4ECB-ADBF-0AEB-028B93E965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10" name="Дата 9">
            <a:extLst>
              <a:ext uri="{FF2B5EF4-FFF2-40B4-BE49-F238E27FC236}">
                <a16:creationId xmlns:a16="http://schemas.microsoft.com/office/drawing/2014/main" id="{29EFE396-5D4B-7B78-2C6D-0D9B18633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22" name="Нижний колонтитул 21">
            <a:extLst>
              <a:ext uri="{FF2B5EF4-FFF2-40B4-BE49-F238E27FC236}">
                <a16:creationId xmlns:a16="http://schemas.microsoft.com/office/drawing/2014/main" id="{0480B29E-282C-8B9E-A0B7-DF7E98050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550BB8DE-8FCB-2DA7-26EE-FE611BE2C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096D0E64-C20B-4522-8B9F-59138F2D8AFC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0" r:id="rId2"/>
    <p:sldLayoutId id="2147483845" r:id="rId3"/>
    <p:sldLayoutId id="2147483846" r:id="rId4"/>
    <p:sldLayoutId id="2147483847" r:id="rId5"/>
    <p:sldLayoutId id="2147483848" r:id="rId6"/>
    <p:sldLayoutId id="2147483841" r:id="rId7"/>
    <p:sldLayoutId id="2147483849" r:id="rId8"/>
    <p:sldLayoutId id="2147483850" r:id="rId9"/>
    <p:sldLayoutId id="2147483842" r:id="rId10"/>
    <p:sldLayoutId id="214748384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>
            <a:extLst>
              <a:ext uri="{FF2B5EF4-FFF2-40B4-BE49-F238E27FC236}">
                <a16:creationId xmlns:a16="http://schemas.microsoft.com/office/drawing/2014/main" id="{E4941392-80ED-A810-7581-81F9CA6BB13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0C49BD-EDE7-C1A3-D94B-BF7E40628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693612-3168-E4F6-678F-D64D559CE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975A49F7-AF13-48D9-9AED-9B8DCDE6D272}" type="datetimeFigureOut">
              <a:rPr lang="ru-RU"/>
              <a:pPr>
                <a:defRPr/>
              </a:pPr>
              <a:t>26.09.2026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D62CDF-1F11-3203-D6FA-52C67B9C6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E3EB04-13C8-EA68-CA3F-C7B16E8D4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352C2084-16D8-488A-B9E4-9BA6D3D9E3D9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C3741A-0A69-D0AD-5601-DD4811C13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350" b="1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  <a:t>Ташкентский филиал </a:t>
            </a:r>
            <a:br>
              <a:rPr lang="en-US" sz="1350" b="1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</a:br>
            <a:r>
              <a:rPr lang="ru-RU" sz="1350" b="1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  <a:t>Российского экономического университета</a:t>
            </a:r>
            <a:br>
              <a:rPr lang="ru-RU" sz="1350" b="1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</a:br>
            <a:r>
              <a:rPr lang="ru-RU" sz="1350" b="1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  <a:t> имени Г.В. Плеханова</a:t>
            </a:r>
            <a:br>
              <a:rPr lang="ru-RU" sz="1350" b="1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</a:br>
            <a:r>
              <a:rPr lang="ru-RU" sz="1350" b="1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  <a:t>Кафедра «Макроэкономическая политика и устойчивое развитие»</a:t>
            </a:r>
            <a:br>
              <a:rPr lang="ru-RU" sz="1350" b="1" dirty="0">
                <a:solidFill>
                  <a:srgbClr val="002060"/>
                </a:solidFill>
                <a:latin typeface="Arial Black" panose="020B0A04020102020204" pitchFamily="34" charset="0"/>
                <a:ea typeface="+mn-ea"/>
                <a:cs typeface="+mn-cs"/>
              </a:rPr>
            </a:br>
            <a:endParaRPr lang="ru-RU" sz="135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F2B2D7-7785-16D4-9390-96E623CA5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9650"/>
            <a:ext cx="7886700" cy="3263900"/>
          </a:xfrm>
        </p:spPr>
        <p:txBody>
          <a:bodyPr/>
          <a:lstStyle/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sz="2400" b="1" dirty="0">
                <a:solidFill>
                  <a:schemeClr val="accent5">
                    <a:lumMod val="50000"/>
                  </a:schemeClr>
                </a:solidFill>
              </a:rPr>
              <a:t>Учебный курс: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sz="3600" b="1" dirty="0">
                <a:solidFill>
                  <a:schemeClr val="accent5">
                    <a:lumMod val="50000"/>
                  </a:schemeClr>
                </a:solidFill>
              </a:rPr>
              <a:t>ИСТОРИЯ  ЭКОНОМИКИ</a:t>
            </a:r>
            <a:endParaRPr lang="ru-RU" sz="3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2532" name="Прямоугольник 6">
            <a:extLst>
              <a:ext uri="{FF2B5EF4-FFF2-40B4-BE49-F238E27FC236}">
                <a16:creationId xmlns:a16="http://schemas.microsoft.com/office/drawing/2014/main" id="{F52AA812-CD8D-70E5-DBFC-1977307D6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4143375"/>
            <a:ext cx="5383213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1500" b="1" i="1">
                <a:solidFill>
                  <a:srgbClr val="203864"/>
                </a:solidFill>
                <a:latin typeface="Calibri" panose="020F0502020204030204" pitchFamily="34" charset="0"/>
              </a:rPr>
              <a:t>Лектор: ст. преподаватель Васильева Елена Рюриковна</a:t>
            </a:r>
          </a:p>
          <a:p>
            <a:pPr algn="ctr" eaLnBrk="1" hangingPunct="1"/>
            <a:endParaRPr lang="ru-RU" altLang="ru-RU" sz="1500" b="1">
              <a:solidFill>
                <a:srgbClr val="203864"/>
              </a:solidFill>
              <a:latin typeface="Calibri" panose="020F0502020204030204" pitchFamily="34" charset="0"/>
            </a:endParaRPr>
          </a:p>
          <a:p>
            <a:pPr algn="ctr" eaLnBrk="1" hangingPunct="1"/>
            <a:r>
              <a:rPr lang="ru-RU" altLang="ru-RU" sz="1500" b="1">
                <a:solidFill>
                  <a:srgbClr val="203864"/>
                </a:solidFill>
                <a:latin typeface="Calibri" panose="020F0502020204030204" pitchFamily="34" charset="0"/>
              </a:rPr>
              <a:t>Ташкент 202</a:t>
            </a:r>
            <a:r>
              <a:rPr lang="en-US" altLang="ru-RU" sz="1500" b="1">
                <a:solidFill>
                  <a:srgbClr val="203864"/>
                </a:solidFill>
                <a:latin typeface="Calibri" panose="020F0502020204030204" pitchFamily="34" charset="0"/>
              </a:rPr>
              <a:t>7</a:t>
            </a:r>
            <a:endParaRPr lang="ru-RU" altLang="ru-RU" sz="1500" b="1">
              <a:solidFill>
                <a:srgbClr val="203864"/>
              </a:solidFill>
              <a:latin typeface="Calibri" panose="020F0502020204030204" pitchFamily="34" charset="0"/>
            </a:endParaRPr>
          </a:p>
        </p:txBody>
      </p:sp>
      <p:pic>
        <p:nvPicPr>
          <p:cNvPr id="22533" name="Рисунок 4">
            <a:extLst>
              <a:ext uri="{FF2B5EF4-FFF2-40B4-BE49-F238E27FC236}">
                <a16:creationId xmlns:a16="http://schemas.microsoft.com/office/drawing/2014/main" id="{A67BC9D9-2497-0262-4C0E-F508FA212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1879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52F5CEE-FCB1-7B6E-E5FB-B37AEB6A5E8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609600"/>
            <a:ext cx="7772400" cy="1752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000" b="0" dirty="0">
                <a:solidFill>
                  <a:schemeClr val="bg2">
                    <a:lumMod val="10000"/>
                  </a:schemeClr>
                </a:solidFill>
                <a:effectLst/>
                <a:latin typeface="Arial Black" pitchFamily="34" charset="0"/>
              </a:rPr>
              <a:t>Лекция 3. </a:t>
            </a:r>
            <a:br>
              <a:rPr lang="ru-RU" sz="2000" b="0" dirty="0">
                <a:solidFill>
                  <a:schemeClr val="bg2">
                    <a:lumMod val="10000"/>
                  </a:schemeClr>
                </a:solidFill>
                <a:effectLst/>
                <a:latin typeface="Arial Black" pitchFamily="34" charset="0"/>
              </a:rPr>
            </a:br>
            <a:r>
              <a:rPr lang="ru-RU" sz="2000" b="0" dirty="0">
                <a:solidFill>
                  <a:schemeClr val="bg2">
                    <a:lumMod val="10000"/>
                  </a:schemeClr>
                </a:solidFill>
                <a:effectLst/>
                <a:latin typeface="Arial Black" pitchFamily="34" charset="0"/>
              </a:rPr>
              <a:t>Особенности экономического развития европейских стран в</a:t>
            </a:r>
            <a:r>
              <a:rPr lang="en-US" sz="2000" b="0" dirty="0">
                <a:solidFill>
                  <a:schemeClr val="bg2">
                    <a:lumMod val="10000"/>
                  </a:schemeClr>
                </a:solidFill>
                <a:effectLst/>
                <a:latin typeface="Arial Black" pitchFamily="34" charset="0"/>
              </a:rPr>
              <a:t> </a:t>
            </a:r>
            <a:r>
              <a:rPr lang="ru-RU" sz="2000" b="0" dirty="0">
                <a:solidFill>
                  <a:schemeClr val="bg2">
                    <a:lumMod val="10000"/>
                  </a:schemeClr>
                </a:solidFill>
                <a:effectLst/>
                <a:latin typeface="Arial Black" pitchFamily="34" charset="0"/>
              </a:rPr>
              <a:t>эпоху  первоначального накопления капитала и мануфактурного производст</a:t>
            </a:r>
            <a:r>
              <a:rPr lang="ru-RU" sz="2000" dirty="0">
                <a:solidFill>
                  <a:schemeClr val="bg2">
                    <a:lumMod val="10000"/>
                  </a:schemeClr>
                </a:solidFill>
                <a:effectLst/>
                <a:latin typeface="Arial Black" pitchFamily="34" charset="0"/>
              </a:rPr>
              <a:t>ва</a:t>
            </a:r>
            <a:br>
              <a:rPr lang="ru-RU" sz="2000" dirty="0">
                <a:solidFill>
                  <a:schemeClr val="bg2">
                    <a:lumMod val="10000"/>
                  </a:schemeClr>
                </a:solidFill>
                <a:effectLst/>
                <a:latin typeface="Arial Black" pitchFamily="34" charset="0"/>
              </a:rPr>
            </a:br>
            <a:br>
              <a:rPr lang="ru-RU" sz="2000" dirty="0">
                <a:solidFill>
                  <a:schemeClr val="bg2">
                    <a:lumMod val="10000"/>
                  </a:schemeClr>
                </a:solidFill>
                <a:effectLst/>
                <a:latin typeface="Arial Black" pitchFamily="34" charset="0"/>
              </a:rPr>
            </a:br>
            <a:endParaRPr lang="ru-RU" sz="2000" dirty="0">
              <a:solidFill>
                <a:schemeClr val="bg2">
                  <a:lumMod val="10000"/>
                </a:schemeClr>
              </a:solidFill>
              <a:effectLst/>
              <a:latin typeface="Arial Black" pitchFamily="34" charset="0"/>
            </a:endParaRPr>
          </a:p>
        </p:txBody>
      </p:sp>
      <p:sp>
        <p:nvSpPr>
          <p:cNvPr id="23555" name="Номер слайда 4">
            <a:extLst>
              <a:ext uri="{FF2B5EF4-FFF2-40B4-BE49-F238E27FC236}">
                <a16:creationId xmlns:a16="http://schemas.microsoft.com/office/drawing/2014/main" id="{F8FAFC7F-BFA0-141D-3CC1-9E106E26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5F1B10-AB48-4530-A5F5-2DF151EFCF36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23556" name="Прямоугольник 1">
            <a:extLst>
              <a:ext uri="{FF2B5EF4-FFF2-40B4-BE49-F238E27FC236}">
                <a16:creationId xmlns:a16="http://schemas.microsoft.com/office/drawing/2014/main" id="{359B5095-5A18-89E2-6AF5-DFEF30DC1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33600"/>
            <a:ext cx="72390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000" b="1">
                <a:latin typeface="Arial" panose="020B0604020202020204" pitchFamily="34" charset="0"/>
              </a:rPr>
              <a:t>1. Влияние великих географических открытий ( ВГО) на экономическое развитие Европы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20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000" b="1">
                <a:latin typeface="Arial" panose="020B0604020202020204" pitchFamily="34" charset="0"/>
              </a:rPr>
              <a:t>2. Первоначальное накопление капитала: его источники, методы и результаты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20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000" b="1">
                <a:latin typeface="Arial" panose="020B0604020202020204" pitchFamily="34" charset="0"/>
              </a:rPr>
              <a:t>3. Влияние мануфактурного производства на структуру экономики стран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000" b="1">
                <a:latin typeface="Arial" panose="020B0604020202020204" pitchFamily="34" charset="0"/>
              </a:rPr>
              <a:t> </a:t>
            </a:r>
            <a:endParaRPr lang="en-US" altLang="ru-RU" sz="2000" b="1">
              <a:latin typeface="Arial" panose="020B0604020202020204" pitchFamily="34" charset="0"/>
            </a:endParaRPr>
          </a:p>
        </p:txBody>
      </p:sp>
      <p:pic>
        <p:nvPicPr>
          <p:cNvPr id="23557" name="Picture 6">
            <a:extLst>
              <a:ext uri="{FF2B5EF4-FFF2-40B4-BE49-F238E27FC236}">
                <a16:creationId xmlns:a16="http://schemas.microsoft.com/office/drawing/2014/main" id="{26527033-BFEB-884B-0D8A-F5FFE57DE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5181600"/>
            <a:ext cx="2459037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Номер слайда 1">
            <a:extLst>
              <a:ext uri="{FF2B5EF4-FFF2-40B4-BE49-F238E27FC236}">
                <a16:creationId xmlns:a16="http://schemas.microsoft.com/office/drawing/2014/main" id="{DF768585-FB51-0B80-4D18-D5D44C6AC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F3CD89-674C-4E26-A2CB-D2F586512F15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8E99ED06-5B5D-FD05-553B-8487DCA10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428596" y="431779"/>
            <a:ext cx="8382000" cy="54273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5604" name="Прямоугольник 3">
            <a:extLst>
              <a:ext uri="{FF2B5EF4-FFF2-40B4-BE49-F238E27FC236}">
                <a16:creationId xmlns:a16="http://schemas.microsoft.com/office/drawing/2014/main" id="{12FC6F57-4D79-5512-14F2-D027ECB0A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30888"/>
            <a:ext cx="457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 </a:t>
            </a:r>
            <a:r>
              <a:rPr lang="ru-RU" altLang="ru-RU" sz="1800" b="1">
                <a:latin typeface="Calibri" panose="020F0502020204030204" pitchFamily="34" charset="0"/>
              </a:rPr>
              <a:t>Высадка Колумба в Америке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i="1">
                <a:solidFill>
                  <a:srgbClr val="000000"/>
                </a:solidFill>
                <a:latin typeface="Arial" panose="020B0604020202020204" pitchFamily="34" charset="0"/>
              </a:rPr>
              <a:t>                           </a:t>
            </a:r>
            <a:r>
              <a:rPr lang="ru-RU" altLang="ru-RU" sz="1800" b="1" i="1">
                <a:solidFill>
                  <a:srgbClr val="B8B8FF"/>
                </a:solidFill>
                <a:latin typeface="Arial" panose="020B0604020202020204" pitchFamily="34" charset="0"/>
              </a:rPr>
              <a:t>Дж. Вандерлин  1847 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:a16="http://schemas.microsoft.com/office/drawing/2014/main" id="{32A3E814-416E-7FFE-3F37-943879C98B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7469187" y="2971800"/>
            <a:ext cx="1482726" cy="2057400"/>
          </a:xfrm>
          <a:prstGeom prst="ellipse">
            <a:avLst/>
          </a:prstGeom>
          <a:effectLst>
            <a:softEdge rad="112500"/>
          </a:effectLst>
        </p:spPr>
      </p:pic>
      <p:sp>
        <p:nvSpPr>
          <p:cNvPr id="27651" name="Номер слайда 3">
            <a:extLst>
              <a:ext uri="{FF2B5EF4-FFF2-40B4-BE49-F238E27FC236}">
                <a16:creationId xmlns:a16="http://schemas.microsoft.com/office/drawing/2014/main" id="{23DB8C08-ABB9-8B3C-E6BA-2CF14AAB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FB4EBE-64FC-4807-8959-D3EF052E56A2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4098" name="Заголовок 1">
            <a:extLst>
              <a:ext uri="{FF2B5EF4-FFF2-40B4-BE49-F238E27FC236}">
                <a16:creationId xmlns:a16="http://schemas.microsoft.com/office/drawing/2014/main" id="{1CCDF0AC-CA43-EA83-0AD7-9A8F83319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95400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br>
              <a:rPr lang="ru-RU" sz="3200" dirty="0">
                <a:solidFill>
                  <a:srgbClr val="C00000"/>
                </a:solidFill>
                <a:latin typeface="Times New Roman" pitchFamily="18" charset="0"/>
              </a:rPr>
            </a:br>
            <a:br>
              <a:rPr lang="ru-RU" sz="3200" dirty="0">
                <a:solidFill>
                  <a:srgbClr val="C00000"/>
                </a:solidFill>
                <a:latin typeface="Times New Roman" pitchFamily="18" charset="0"/>
              </a:rPr>
            </a:br>
            <a:r>
              <a:rPr lang="ru-RU" sz="2200" dirty="0">
                <a:solidFill>
                  <a:srgbClr val="C00000"/>
                </a:solidFill>
                <a:latin typeface="Arial Black" pitchFamily="34" charset="0"/>
              </a:rPr>
              <a:t>Хронология ВГО</a:t>
            </a:r>
            <a:br>
              <a:rPr lang="ru-RU" sz="2200" dirty="0">
                <a:solidFill>
                  <a:srgbClr val="C00000"/>
                </a:solidFill>
                <a:latin typeface="Arial Black" pitchFamily="34" charset="0"/>
              </a:rPr>
            </a:br>
            <a:r>
              <a:rPr lang="ru-RU" sz="3600" dirty="0">
                <a:solidFill>
                  <a:srgbClr val="FFC000"/>
                </a:solidFill>
                <a:latin typeface="Times New Roman" pitchFamily="18" charset="0"/>
              </a:rPr>
              <a:t>    </a:t>
            </a:r>
            <a:br>
              <a:rPr lang="ru-RU" sz="3600" dirty="0">
                <a:latin typeface="Times New Roman" pitchFamily="18" charset="0"/>
              </a:rPr>
            </a:br>
            <a:endParaRPr lang="ru-RU" dirty="0"/>
          </a:p>
        </p:txBody>
      </p:sp>
      <p:sp>
        <p:nvSpPr>
          <p:cNvPr id="27653" name="Прямоугольник 4">
            <a:extLst>
              <a:ext uri="{FF2B5EF4-FFF2-40B4-BE49-F238E27FC236}">
                <a16:creationId xmlns:a16="http://schemas.microsoft.com/office/drawing/2014/main" id="{14126B33-1555-94E5-FD47-807C86251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50913"/>
            <a:ext cx="7348538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ru-RU" altLang="ru-RU" sz="1800" b="1">
                <a:latin typeface="Times New Roman" panose="02020603050405020304" pitchFamily="18" charset="0"/>
              </a:rPr>
              <a:t> </a:t>
            </a:r>
            <a:r>
              <a:rPr lang="ru-RU" altLang="ru-RU" sz="2600" b="1">
                <a:latin typeface="Times New Roman" panose="02020603050405020304" pitchFamily="18" charset="0"/>
              </a:rPr>
              <a:t>1489 г. Б. Диаш достиг мыса Доброй Надежды </a:t>
            </a:r>
            <a:endParaRPr lang="en-US" altLang="ru-RU" sz="26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ru-RU" altLang="ru-RU" sz="2600" b="1"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Blip>
                <a:blip r:embed="rId4"/>
              </a:buBlip>
            </a:pPr>
            <a:r>
              <a:rPr lang="en-US" altLang="ru-RU" sz="2600" b="1">
                <a:latin typeface="Times New Roman" panose="02020603050405020304" pitchFamily="18" charset="0"/>
              </a:rPr>
              <a:t> </a:t>
            </a:r>
            <a:r>
              <a:rPr lang="ru-RU" altLang="ru-RU" sz="2600" b="1">
                <a:latin typeface="Times New Roman" panose="02020603050405020304" pitchFamily="18" charset="0"/>
              </a:rPr>
              <a:t>1492 г .– открытие американского континента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600" b="1">
                <a:latin typeface="Times New Roman" panose="02020603050405020304" pitchFamily="18" charset="0"/>
              </a:rPr>
              <a:t>Х. Колумбом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Blip>
                <a:blip r:embed="rId4"/>
              </a:buBlip>
            </a:pPr>
            <a:endParaRPr lang="ru-RU" altLang="ru-RU" sz="26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Blip>
                <a:blip r:embed="rId4"/>
              </a:buBlip>
            </a:pPr>
            <a:r>
              <a:rPr lang="ru-RU" altLang="ru-RU" sz="2600" b="1">
                <a:latin typeface="Times New Roman" panose="02020603050405020304" pitchFamily="18" charset="0"/>
              </a:rPr>
              <a:t>1498 г. – Васко да Гамма открыл морской путь в Индию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altLang="ru-RU" sz="26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Blip>
                <a:blip r:embed="rId4"/>
              </a:buBlip>
            </a:pPr>
            <a:r>
              <a:rPr lang="ru-RU" altLang="ru-RU" sz="2600" b="1">
                <a:latin typeface="Times New Roman" panose="02020603050405020304" pitchFamily="18" charset="0"/>
              </a:rPr>
              <a:t>1499-1504 г.г. – Америго  Веспуччи обследовал берега Южной Америки и назвал  Новым светом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Blip>
                <a:blip r:embed="rId4"/>
              </a:buBlip>
            </a:pPr>
            <a:endParaRPr lang="ru-RU" altLang="ru-RU" sz="26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Blip>
                <a:blip r:embed="rId4"/>
              </a:buBlip>
            </a:pPr>
            <a:endParaRPr lang="ru-RU" altLang="ru-RU" sz="1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altLang="ru-RU" sz="2200" b="1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Blip>
                <a:blip r:embed="rId4"/>
              </a:buBlip>
            </a:pPr>
            <a:endParaRPr lang="ru-RU" altLang="ru-RU" sz="2200" b="1">
              <a:latin typeface="Times New Roman" panose="02020603050405020304" pitchFamily="18" charset="0"/>
            </a:endParaRPr>
          </a:p>
        </p:txBody>
      </p:sp>
      <p:sp>
        <p:nvSpPr>
          <p:cNvPr id="27654" name="Прямоугольник 6">
            <a:extLst>
              <a:ext uri="{FF2B5EF4-FFF2-40B4-BE49-F238E27FC236}">
                <a16:creationId xmlns:a16="http://schemas.microsoft.com/office/drawing/2014/main" id="{CA6FDB6F-4AFB-6DC5-9151-B0F751BFA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200" y="5495925"/>
            <a:ext cx="1244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400" b="1">
                <a:latin typeface="Calibri" panose="020F0502020204030204" pitchFamily="34" charset="0"/>
              </a:rPr>
              <a:t>Христофор Колумб</a:t>
            </a:r>
            <a:endParaRPr lang="ru-RU" altLang="ru-RU" sz="1400">
              <a:latin typeface="Arial" panose="020B0604020202020204" pitchFamily="34" charset="0"/>
            </a:endParaRPr>
          </a:p>
        </p:txBody>
      </p:sp>
      <p:sp>
        <p:nvSpPr>
          <p:cNvPr id="27655" name="Прямоугольник 8">
            <a:extLst>
              <a:ext uri="{FF2B5EF4-FFF2-40B4-BE49-F238E27FC236}">
                <a16:creationId xmlns:a16="http://schemas.microsoft.com/office/drawing/2014/main" id="{3ED94733-5E23-9821-6577-E6247990A7B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86400" y="5527675"/>
            <a:ext cx="114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400" b="1">
                <a:latin typeface="Calibri" panose="020F0502020204030204" pitchFamily="34" charset="0"/>
              </a:rPr>
              <a:t>Васко да Гама</a:t>
            </a:r>
          </a:p>
        </p:txBody>
      </p:sp>
      <p:pic>
        <p:nvPicPr>
          <p:cNvPr id="27656" name="Picture 11">
            <a:extLst>
              <a:ext uri="{FF2B5EF4-FFF2-40B4-BE49-F238E27FC236}">
                <a16:creationId xmlns:a16="http://schemas.microsoft.com/office/drawing/2014/main" id="{E48FE795-DD14-CB61-9ADD-9B626AF1E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049838"/>
            <a:ext cx="1371600" cy="352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7" name="Picture 13">
            <a:extLst>
              <a:ext uri="{FF2B5EF4-FFF2-40B4-BE49-F238E27FC236}">
                <a16:creationId xmlns:a16="http://schemas.microsoft.com/office/drawing/2014/main" id="{88AD32F3-42CF-1BCD-9A77-E20B1088A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5110163"/>
            <a:ext cx="1381125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8" name="Picture 14">
            <a:extLst>
              <a:ext uri="{FF2B5EF4-FFF2-40B4-BE49-F238E27FC236}">
                <a16:creationId xmlns:a16="http://schemas.microsoft.com/office/drawing/2014/main" id="{63F76D58-AEB7-83A8-FF0A-ED148DC42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489575"/>
            <a:ext cx="13160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9" name="Picture 14" descr="C:\Users\Shermukhamed\Downloads\vespucci-p.jpg">
            <a:extLst>
              <a:ext uri="{FF2B5EF4-FFF2-40B4-BE49-F238E27FC236}">
                <a16:creationId xmlns:a16="http://schemas.microsoft.com/office/drawing/2014/main" id="{474C9BAD-7283-89D2-2EE3-5893BFF0E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5" y="5100638"/>
            <a:ext cx="1474788" cy="170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0" name="Прямоугольник 3">
            <a:extLst>
              <a:ext uri="{FF2B5EF4-FFF2-40B4-BE49-F238E27FC236}">
                <a16:creationId xmlns:a16="http://schemas.microsoft.com/office/drawing/2014/main" id="{AEF47E84-F76A-BCFE-D308-280201A54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5800725"/>
            <a:ext cx="1057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400" b="1">
                <a:solidFill>
                  <a:srgbClr val="252525"/>
                </a:solidFill>
                <a:latin typeface="Arial" panose="020B0604020202020204" pitchFamily="34" charset="0"/>
              </a:rPr>
              <a:t>Америго Веспуччи</a:t>
            </a:r>
            <a:endParaRPr lang="en-US" altLang="ru-RU" sz="1400" b="1">
              <a:latin typeface="Arial" panose="020B0604020202020204" pitchFamily="34" charset="0"/>
            </a:endParaRPr>
          </a:p>
        </p:txBody>
      </p:sp>
      <p:sp>
        <p:nvSpPr>
          <p:cNvPr id="27661" name="Прямоугольник 4">
            <a:extLst>
              <a:ext uri="{FF2B5EF4-FFF2-40B4-BE49-F238E27FC236}">
                <a16:creationId xmlns:a16="http://schemas.microsoft.com/office/drawing/2014/main" id="{395FDCD3-4979-314E-14C5-62CD9B4F5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7138" y="152400"/>
            <a:ext cx="14906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400" b="1">
                <a:latin typeface="Calibri" panose="020F0502020204030204" pitchFamily="34" charset="0"/>
              </a:rPr>
              <a:t>Бартоломеу Диаш</a:t>
            </a:r>
          </a:p>
        </p:txBody>
      </p:sp>
      <p:pic>
        <p:nvPicPr>
          <p:cNvPr id="27662" name="Picture 16">
            <a:extLst>
              <a:ext uri="{FF2B5EF4-FFF2-40B4-BE49-F238E27FC236}">
                <a16:creationId xmlns:a16="http://schemas.microsoft.com/office/drawing/2014/main" id="{726C232C-10C0-EC40-3B2C-B6815DED4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463" y="914400"/>
            <a:ext cx="1204912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Содержимое 2">
            <a:extLst>
              <a:ext uri="{FF2B5EF4-FFF2-40B4-BE49-F238E27FC236}">
                <a16:creationId xmlns:a16="http://schemas.microsoft.com/office/drawing/2014/main" id="{3827F637-914E-5FE2-84B3-A06EC0FE9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81000"/>
            <a:ext cx="7583488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Blip>
                <a:blip r:embed="rId3"/>
              </a:buBlip>
            </a:pPr>
            <a:endParaRPr lang="ru-RU" altLang="ru-RU" sz="20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1519-1521г .г. </a:t>
            </a:r>
            <a:r>
              <a:rPr lang="ru-RU" altLang="ru-RU" sz="2400" b="1">
                <a:latin typeface="Times New Roman" panose="02020603050405020304" pitchFamily="18" charset="0"/>
              </a:rPr>
              <a:t>– Фернандо Магеллан совершил первое в истории кругосветное путешествие</a:t>
            </a:r>
          </a:p>
          <a:p>
            <a:pPr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ru-RU" altLang="ru-RU" sz="2400" b="1">
                <a:latin typeface="Times New Roman" panose="02020603050405020304" pitchFamily="18" charset="0"/>
              </a:rPr>
              <a:t>1519-1521гг – испанец Э. Кортес начал  завоевание  Центральной Америки</a:t>
            </a:r>
          </a:p>
          <a:p>
            <a:pPr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ru-RU" altLang="ru-RU" sz="2400" b="1">
                <a:latin typeface="Times New Roman" panose="02020603050405020304" pitchFamily="18" charset="0"/>
              </a:rPr>
              <a:t>С </a:t>
            </a: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1530 </a:t>
            </a:r>
            <a:r>
              <a:rPr lang="ru-RU" altLang="ru-RU" sz="2400" b="1">
                <a:latin typeface="Times New Roman" panose="02020603050405020304" pitchFamily="18" charset="0"/>
              </a:rPr>
              <a:t>г. – в Мексике, Перу и современной Боливии начали работать рудники</a:t>
            </a:r>
          </a:p>
          <a:p>
            <a:pPr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ru-RU" altLang="ru-RU" sz="2400" b="1">
                <a:latin typeface="Times New Roman" panose="02020603050405020304" pitchFamily="18" charset="0"/>
              </a:rPr>
              <a:t>Португалия, Испания начали экономическую колонизацию</a:t>
            </a:r>
          </a:p>
          <a:p>
            <a:pPr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В конце </a:t>
            </a:r>
            <a:r>
              <a:rPr lang="en-US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XV</a:t>
            </a: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400" b="1">
                <a:latin typeface="Times New Roman" panose="02020603050405020304" pitchFamily="18" charset="0"/>
              </a:rPr>
              <a:t>в. англичане и французы исследовали С. Америку</a:t>
            </a:r>
          </a:p>
          <a:p>
            <a:pPr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1606</a:t>
            </a:r>
            <a:r>
              <a:rPr lang="ru-RU" altLang="ru-RU" sz="2400" b="1">
                <a:latin typeface="Times New Roman" panose="02020603050405020304" pitchFamily="18" charset="0"/>
              </a:rPr>
              <a:t> г. Голландцы открыли Австралию</a:t>
            </a:r>
            <a:endParaRPr lang="ru-RU" altLang="ru-RU" sz="2400"/>
          </a:p>
          <a:p>
            <a:pPr eaLnBrk="1" hangingPunct="1"/>
            <a:endParaRPr lang="ru-RU" altLang="ru-RU" sz="2400"/>
          </a:p>
          <a:p>
            <a:pPr eaLnBrk="1" hangingPunct="1"/>
            <a:endParaRPr lang="ru-RU" altLang="ru-RU" sz="2400"/>
          </a:p>
        </p:txBody>
      </p:sp>
      <p:sp>
        <p:nvSpPr>
          <p:cNvPr id="29699" name="Номер слайда 3">
            <a:extLst>
              <a:ext uri="{FF2B5EF4-FFF2-40B4-BE49-F238E27FC236}">
                <a16:creationId xmlns:a16="http://schemas.microsoft.com/office/drawing/2014/main" id="{7083B311-3603-37D3-49A5-520541DB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4432CF-A7CC-4BDC-8FA9-4CD0B5C500FD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41E760-A3A5-6623-55DD-CBBE0935A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/>
          <a:srcRect b="9776"/>
          <a:stretch>
            <a:fillRect/>
          </a:stretch>
        </p:blipFill>
        <p:spPr bwMode="auto">
          <a:xfrm>
            <a:off x="3774652" y="5181600"/>
            <a:ext cx="1447800" cy="15869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9701" name="Picture 8" descr="C:\Users\Shermukhamed\Downloads\300px-Hernan_Fernando_Cortes.jpg">
            <a:extLst>
              <a:ext uri="{FF2B5EF4-FFF2-40B4-BE49-F238E27FC236}">
                <a16:creationId xmlns:a16="http://schemas.microsoft.com/office/drawing/2014/main" id="{45A6612B-6915-246A-4914-6869BB819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663" y="4984750"/>
            <a:ext cx="1371600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95BB1B-F9FE-3B8B-8728-D2CCFBBEAAA4}"/>
              </a:ext>
            </a:extLst>
          </p:cNvPr>
          <p:cNvSpPr/>
          <p:nvPr/>
        </p:nvSpPr>
        <p:spPr>
          <a:xfrm>
            <a:off x="5829300" y="5330825"/>
            <a:ext cx="1312863" cy="3079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1400" b="1" dirty="0" err="1">
                <a:solidFill>
                  <a:prstClr val="black"/>
                </a:solidFill>
                <a:latin typeface="Times New Roman" pitchFamily="18" charset="0"/>
                <a:cs typeface="+mn-cs"/>
              </a:rPr>
              <a:t>Эрнан</a:t>
            </a:r>
            <a:r>
              <a:rPr lang="ru-RU" sz="1400" b="1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 Кортес </a:t>
            </a:r>
            <a:endParaRPr lang="en-US" sz="1400" dirty="0">
              <a:latin typeface="Arial" charset="0"/>
              <a:cs typeface="Arial" charset="0"/>
            </a:endParaRPr>
          </a:p>
        </p:txBody>
      </p:sp>
      <p:sp>
        <p:nvSpPr>
          <p:cNvPr id="29703" name="Прямоугольник 2">
            <a:extLst>
              <a:ext uri="{FF2B5EF4-FFF2-40B4-BE49-F238E27FC236}">
                <a16:creationId xmlns:a16="http://schemas.microsoft.com/office/drawing/2014/main" id="{26473D02-9E92-C86B-C688-6A2322AAF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803900"/>
            <a:ext cx="1371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400" b="1">
                <a:solidFill>
                  <a:srgbClr val="000000"/>
                </a:solidFill>
                <a:latin typeface="Calibri" panose="020F0502020204030204" pitchFamily="34" charset="0"/>
              </a:rPr>
              <a:t>Дрейк Фрэнсис</a:t>
            </a:r>
          </a:p>
        </p:txBody>
      </p:sp>
      <p:pic>
        <p:nvPicPr>
          <p:cNvPr id="29704" name="Picture 9">
            <a:extLst>
              <a:ext uri="{FF2B5EF4-FFF2-40B4-BE49-F238E27FC236}">
                <a16:creationId xmlns:a16="http://schemas.microsoft.com/office/drawing/2014/main" id="{1537C778-54F0-94AF-EDFD-FAF8FB74F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914400"/>
            <a:ext cx="1255712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5" name="Picture 12">
            <a:extLst>
              <a:ext uri="{FF2B5EF4-FFF2-40B4-BE49-F238E27FC236}">
                <a16:creationId xmlns:a16="http://schemas.microsoft.com/office/drawing/2014/main" id="{EC76DAC8-5DCC-97F6-17BB-B7C87AC33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688" y="2971800"/>
            <a:ext cx="16113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Объект 1">
            <a:extLst>
              <a:ext uri="{FF2B5EF4-FFF2-40B4-BE49-F238E27FC236}">
                <a16:creationId xmlns:a16="http://schemas.microsoft.com/office/drawing/2014/main" id="{284224BF-5CD8-4D50-7F82-CCCDC30BF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95400"/>
            <a:ext cx="7391400" cy="5562600"/>
          </a:xfrm>
        </p:spPr>
        <p:txBody>
          <a:bodyPr/>
          <a:lstStyle/>
          <a:p>
            <a:pPr eaLnBrk="1" hangingPunct="1"/>
            <a:r>
              <a:rPr lang="ru-RU" altLang="ru-RU" sz="2000" b="1"/>
              <a:t>революция в судостроении</a:t>
            </a:r>
          </a:p>
          <a:p>
            <a:pPr eaLnBrk="1" hangingPunct="1"/>
            <a:r>
              <a:rPr lang="ru-RU" altLang="ru-RU" sz="2000" b="1"/>
              <a:t>кризис торговли итальянских городов на Средиземном море, Ганзейское господство над северной морской торговлей</a:t>
            </a:r>
          </a:p>
          <a:p>
            <a:pPr eaLnBrk="1" hangingPunct="1"/>
            <a:r>
              <a:rPr lang="ru-RU" altLang="ru-RU" sz="2000" b="1" u="sng"/>
              <a:t>обезземеливание</a:t>
            </a:r>
            <a:r>
              <a:rPr lang="ru-RU" altLang="ru-RU" sz="2000" b="1"/>
              <a:t> европейского дворянства</a:t>
            </a:r>
          </a:p>
          <a:p>
            <a:pPr eaLnBrk="1" hangingPunct="1"/>
            <a:r>
              <a:rPr lang="ru-RU" altLang="ru-RU" sz="2000" b="1" u="sng"/>
              <a:t>непроизводительные расходы </a:t>
            </a:r>
            <a:r>
              <a:rPr lang="ru-RU" altLang="ru-RU" sz="2000" b="1"/>
              <a:t>королевских дворов</a:t>
            </a:r>
          </a:p>
          <a:p>
            <a:pPr eaLnBrk="1" hangingPunct="1"/>
            <a:r>
              <a:rPr lang="ru-RU" altLang="ru-RU" sz="2000" b="1"/>
              <a:t>Падение Константинополя, захват  турками Передней Азии и Балкан</a:t>
            </a:r>
          </a:p>
          <a:p>
            <a:pPr eaLnBrk="1" hangingPunct="1"/>
            <a:r>
              <a:rPr lang="ru-RU" altLang="ru-RU" sz="2000" b="1"/>
              <a:t>Восстановление монополии египетских султанов на Красном море</a:t>
            </a:r>
          </a:p>
          <a:p>
            <a:pPr eaLnBrk="1" hangingPunct="1"/>
            <a:r>
              <a:rPr lang="ru-RU" altLang="ru-RU" sz="2000" b="1" u="sng"/>
              <a:t>нехватка драгоценных металлов </a:t>
            </a:r>
            <a:r>
              <a:rPr lang="ru-RU" altLang="ru-RU" sz="2000" b="1"/>
              <a:t>для экономической и политической деятельности европейских государств</a:t>
            </a:r>
          </a:p>
          <a:p>
            <a:pPr eaLnBrk="1" hangingPunct="1"/>
            <a:r>
              <a:rPr lang="ru-RU" altLang="ru-RU" sz="2000" b="1"/>
              <a:t>поиск новых </a:t>
            </a:r>
            <a:r>
              <a:rPr lang="ru-RU" altLang="ru-RU" sz="2000" b="1" u="sng"/>
              <a:t>рынков сбыта</a:t>
            </a:r>
            <a:r>
              <a:rPr lang="ru-RU" altLang="ru-RU" sz="2000" b="1"/>
              <a:t> и  новых торговых путей из Европы для расширяющегося  производства</a:t>
            </a:r>
          </a:p>
          <a:p>
            <a:pPr eaLnBrk="1" hangingPunct="1"/>
            <a:endParaRPr lang="ru-RU" altLang="ru-RU"/>
          </a:p>
          <a:p>
            <a:pPr eaLnBrk="1" hangingPunct="1"/>
            <a:endParaRPr lang="ru-RU" altLang="ru-RU"/>
          </a:p>
          <a:p>
            <a:pPr eaLnBrk="1" hangingPunct="1"/>
            <a:endParaRPr lang="ru-RU" altLang="ru-RU"/>
          </a:p>
          <a:p>
            <a:pPr eaLnBrk="1" hangingPunct="1"/>
            <a:endParaRPr lang="ru-RU" altLang="ru-RU"/>
          </a:p>
          <a:p>
            <a:pPr eaLnBrk="1" hangingPunct="1"/>
            <a:endParaRPr lang="ru-RU" altLang="ru-RU"/>
          </a:p>
          <a:p>
            <a:pPr eaLnBrk="1" hangingPunct="1"/>
            <a:endParaRPr lang="ru-RU" altLang="ru-RU"/>
          </a:p>
          <a:p>
            <a:pPr eaLnBrk="1" hangingPunct="1"/>
            <a:endParaRPr lang="en-US" altLang="ru-RU"/>
          </a:p>
        </p:txBody>
      </p:sp>
      <p:sp>
        <p:nvSpPr>
          <p:cNvPr id="31747" name="Номер слайда 2">
            <a:extLst>
              <a:ext uri="{FF2B5EF4-FFF2-40B4-BE49-F238E27FC236}">
                <a16:creationId xmlns:a16="http://schemas.microsoft.com/office/drawing/2014/main" id="{D0B44C82-4ECE-9B96-DE9A-C07D5848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045C63-84A8-4BD2-9371-D3F7BB79F6B0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93309D5-C5CA-3AFA-23CD-2E1084A09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lang="ru-RU" sz="2700" dirty="0">
                <a:effectLst/>
              </a:rPr>
            </a:br>
            <a:r>
              <a:rPr lang="ru-RU" sz="2400" dirty="0">
                <a:solidFill>
                  <a:srgbClr val="C00000"/>
                </a:solidFill>
                <a:effectLst/>
              </a:rPr>
              <a:t>Экономические причины великих          географических открытий</a:t>
            </a:r>
            <a:r>
              <a:rPr lang="ru-RU" sz="2700" dirty="0">
                <a:solidFill>
                  <a:srgbClr val="C00000"/>
                </a:solidFill>
              </a:rPr>
              <a:t>:</a:t>
            </a:r>
            <a:br>
              <a:rPr lang="ru-RU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1749" name="Picture 6">
            <a:extLst>
              <a:ext uri="{FF2B5EF4-FFF2-40B4-BE49-F238E27FC236}">
                <a16:creationId xmlns:a16="http://schemas.microsoft.com/office/drawing/2014/main" id="{A974C329-EE1F-92C9-4D3A-2E7899A82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646113"/>
            <a:ext cx="1663700" cy="276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0" name="Picture 7">
            <a:extLst>
              <a:ext uri="{FF2B5EF4-FFF2-40B4-BE49-F238E27FC236}">
                <a16:creationId xmlns:a16="http://schemas.microsoft.com/office/drawing/2014/main" id="{3E51BA80-4D24-9F5C-F63A-786FB341A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505200"/>
            <a:ext cx="14954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B5ECABF7-92AB-7693-87E7-D791B5C62A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72390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ru-RU" sz="1800" b="1" dirty="0">
                <a:solidFill>
                  <a:srgbClr val="C00000"/>
                </a:solidFill>
              </a:rPr>
              <a:t>   «Торговая революция»</a:t>
            </a:r>
            <a:r>
              <a:rPr lang="ru-RU" sz="1800" b="1" dirty="0"/>
              <a:t> -  возникновение новых торговых путей , перемещение центра торговли из Средиземного моря в Атлантический океан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ru-RU" sz="1800" b="1" dirty="0"/>
              <a:t>Разрушение феодальной замкнутости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ru-RU" sz="1800" b="1" u="sng" dirty="0"/>
              <a:t>Государственная поддержка </a:t>
            </a:r>
            <a:r>
              <a:rPr lang="ru-RU" sz="1800" b="1" dirty="0"/>
              <a:t>торговли, промышленности, судоходства, колониальной экспансии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ru-RU" sz="1800" b="1" dirty="0"/>
              <a:t>Формирование </a:t>
            </a:r>
            <a:r>
              <a:rPr lang="ru-RU" sz="1800" b="1" u="sng" dirty="0"/>
              <a:t>колониальной</a:t>
            </a:r>
            <a:r>
              <a:rPr lang="ru-RU" sz="1800" b="1" dirty="0"/>
              <a:t> системы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ru-RU" sz="1800" b="1" dirty="0"/>
              <a:t>Формирование  </a:t>
            </a:r>
            <a:r>
              <a:rPr lang="ru-RU" sz="1800" b="1" u="sng" dirty="0"/>
              <a:t>международного</a:t>
            </a:r>
            <a:r>
              <a:rPr lang="ru-RU" sz="1800" b="1" dirty="0"/>
              <a:t> разделения труда, мирового хозяйства и рынка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ru-RU" sz="1800" b="1" dirty="0">
                <a:solidFill>
                  <a:srgbClr val="C00000"/>
                </a:solidFill>
              </a:rPr>
              <a:t>«Революция цен»  </a:t>
            </a:r>
            <a:r>
              <a:rPr lang="ru-RU" sz="1800" b="1" dirty="0"/>
              <a:t>- рост цен на сельскохозяйственные и промышленные товары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ru-RU" sz="1800" b="1" dirty="0">
                <a:solidFill>
                  <a:srgbClr val="C00000"/>
                </a:solidFill>
              </a:rPr>
              <a:t>Перераспределение</a:t>
            </a:r>
            <a:r>
              <a:rPr lang="ru-RU" sz="1800" b="1" dirty="0"/>
              <a:t> доходов между старыми и новыми классами, укрепилась городская и сельская буржуазия</a:t>
            </a:r>
          </a:p>
          <a:p>
            <a:pPr marL="109537" indent="0"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endParaRPr lang="ru-RU" sz="1800" b="1" dirty="0"/>
          </a:p>
          <a:p>
            <a:pPr marL="109537" indent="0" algn="ctr"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r>
              <a:rPr lang="ru-RU" sz="1800" b="1" dirty="0">
                <a:solidFill>
                  <a:srgbClr val="C00000"/>
                </a:solidFill>
              </a:rPr>
              <a:t>Революция торговли   революция цен -предпосылки  процесса первоначального накопления капитала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endParaRPr lang="ru-RU" sz="1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endParaRPr lang="ru-RU" sz="1800" b="1" dirty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endParaRPr lang="ru-RU" sz="1800" dirty="0">
              <a:solidFill>
                <a:srgbClr val="FFFF00"/>
              </a:solidFill>
            </a:endParaRPr>
          </a:p>
        </p:txBody>
      </p:sp>
      <p:sp>
        <p:nvSpPr>
          <p:cNvPr id="32771" name="Номер слайда 5">
            <a:extLst>
              <a:ext uri="{FF2B5EF4-FFF2-40B4-BE49-F238E27FC236}">
                <a16:creationId xmlns:a16="http://schemas.microsoft.com/office/drawing/2014/main" id="{4BF53ADB-18C4-16B4-8F30-005D9FA4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9328CD-47AC-4F72-A11D-F0CE4E9D702C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D322BD1A-8BF1-5EBF-271C-A0F81C6F1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686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200" dirty="0">
                <a:solidFill>
                  <a:srgbClr val="C00000"/>
                </a:solidFill>
                <a:effectLst/>
              </a:rPr>
              <a:t>Социально-экономические последствия ВГО</a:t>
            </a:r>
          </a:p>
        </p:txBody>
      </p:sp>
      <p:pic>
        <p:nvPicPr>
          <p:cNvPr id="5" name="Picture 3" descr="C:\Documents and Settings\теска\Рабочий стол\сканирование.jpg">
            <a:extLst>
              <a:ext uri="{FF2B5EF4-FFF2-40B4-BE49-F238E27FC236}">
                <a16:creationId xmlns:a16="http://schemas.microsoft.com/office/drawing/2014/main" id="{3663EC42-3FCF-0048-8E86-731EAECCD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391400" y="989264"/>
            <a:ext cx="1649421" cy="3049336"/>
          </a:xfrm>
          <a:prstGeom prst="rect">
            <a:avLst/>
          </a:prstGeom>
          <a:noFill/>
          <a:effectLst>
            <a:softEdge rad="1270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3248EB6-2BB4-E29E-F62D-2D4857D862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3400" y="609600"/>
          <a:ext cx="8229600" cy="5516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4819" name="Номер слайда 3">
            <a:extLst>
              <a:ext uri="{FF2B5EF4-FFF2-40B4-BE49-F238E27FC236}">
                <a16:creationId xmlns:a16="http://schemas.microsoft.com/office/drawing/2014/main" id="{CE6BD3AC-05D1-617D-D703-77F88BDE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EDBBB7-7759-4F0E-8BED-0B0D3C11E444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ru-RU" altLang="ru-RU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Содержимое 2">
            <a:extLst>
              <a:ext uri="{FF2B5EF4-FFF2-40B4-BE49-F238E27FC236}">
                <a16:creationId xmlns:a16="http://schemas.microsoft.com/office/drawing/2014/main" id="{8CF96E35-9FA2-5BD3-D6CD-B5779D1A3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30200"/>
            <a:ext cx="4953000" cy="1879600"/>
          </a:xfrm>
        </p:spPr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endParaRPr lang="ru-RU" sz="2000" b="1" dirty="0">
              <a:latin typeface="Times New Roman" pitchFamily="18" charset="0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endParaRPr lang="ru-RU" sz="2000" b="1" dirty="0">
              <a:latin typeface="Times New Roman" pitchFamily="18" charset="0"/>
            </a:endParaRP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ru-RU" sz="2000" b="1" dirty="0"/>
          </a:p>
          <a:p>
            <a:pPr marL="365760" indent="-256032" eaLnBrk="1" fontAlgn="auto" hangingPunct="1"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endParaRPr lang="ru-RU" sz="2000" b="1" i="1" dirty="0">
              <a:solidFill>
                <a:schemeClr val="accent1"/>
              </a:solidFill>
            </a:endParaRP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endParaRPr lang="ru-RU" dirty="0"/>
          </a:p>
        </p:txBody>
      </p:sp>
      <p:sp>
        <p:nvSpPr>
          <p:cNvPr id="36867" name="Номер слайда 6">
            <a:extLst>
              <a:ext uri="{FF2B5EF4-FFF2-40B4-BE49-F238E27FC236}">
                <a16:creationId xmlns:a16="http://schemas.microsoft.com/office/drawing/2014/main" id="{FBB23699-AF58-743A-D718-29BD30E1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4B1138-F65E-41F8-9A99-F74D4BF3C4B5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pic>
        <p:nvPicPr>
          <p:cNvPr id="7" name="Picture 8" descr="C:\Documents and Settings\теска\Рабочий стол\41.jpg">
            <a:extLst>
              <a:ext uri="{FF2B5EF4-FFF2-40B4-BE49-F238E27FC236}">
                <a16:creationId xmlns:a16="http://schemas.microsoft.com/office/drawing/2014/main" id="{556C1E40-DB5C-F5C4-DBA7-28FE0EB15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6553200" y="131619"/>
            <a:ext cx="2396836" cy="2653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0"/>
          </a:effectLst>
        </p:spPr>
      </p:pic>
      <p:pic>
        <p:nvPicPr>
          <p:cNvPr id="36869" name="Picture 7">
            <a:extLst>
              <a:ext uri="{FF2B5EF4-FFF2-40B4-BE49-F238E27FC236}">
                <a16:creationId xmlns:a16="http://schemas.microsoft.com/office/drawing/2014/main" id="{EC1928A4-CECF-7C91-2292-5D6A08D69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495800"/>
            <a:ext cx="3895725" cy="216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70" name="Picture 8">
            <a:extLst>
              <a:ext uri="{FF2B5EF4-FFF2-40B4-BE49-F238E27FC236}">
                <a16:creationId xmlns:a16="http://schemas.microsoft.com/office/drawing/2014/main" id="{E169C1F6-9CEB-9A0E-5457-F1AF4BF9B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0" y="1019175"/>
            <a:ext cx="2157413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71" name="Picture 9">
            <a:extLst>
              <a:ext uri="{FF2B5EF4-FFF2-40B4-BE49-F238E27FC236}">
                <a16:creationId xmlns:a16="http://schemas.microsoft.com/office/drawing/2014/main" id="{C9879E5F-2A80-BBBA-0DB5-BB317DFA7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838200"/>
            <a:ext cx="29289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72" name="Picture 10">
            <a:extLst>
              <a:ext uri="{FF2B5EF4-FFF2-40B4-BE49-F238E27FC236}">
                <a16:creationId xmlns:a16="http://schemas.microsoft.com/office/drawing/2014/main" id="{CC985175-704F-0C7B-1AD0-C8AD1DCC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692650"/>
            <a:ext cx="2232025" cy="197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73" name="Picture 11">
            <a:extLst>
              <a:ext uri="{FF2B5EF4-FFF2-40B4-BE49-F238E27FC236}">
                <a16:creationId xmlns:a16="http://schemas.microsoft.com/office/drawing/2014/main" id="{D34222DC-23C0-EF55-8B48-444BFFBE6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988" y="3856038"/>
            <a:ext cx="1938337" cy="183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74" name="Прямоугольник 3">
            <a:extLst>
              <a:ext uri="{FF2B5EF4-FFF2-40B4-BE49-F238E27FC236}">
                <a16:creationId xmlns:a16="http://schemas.microsoft.com/office/drawing/2014/main" id="{DBB1F5EE-0D73-363D-8BB4-7F0637F48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789238"/>
            <a:ext cx="62357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1438" indent="34290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>
                <a:solidFill>
                  <a:srgbClr val="000000"/>
                </a:solidFill>
                <a:latin typeface="Calibri" panose="020F0502020204030204" pitchFamily="34" charset="0"/>
              </a:rPr>
              <a:t>Фернандо Кортес с  отрядом солдат обманом и коварством покоряет громадную страну ацтеков  Мексику и захватывает добычу, перед которой меркнут сокровища любого из европейских королей,- золото верховного вождя ацтеков Монтесумы.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Содержимое 2">
            <a:extLst>
              <a:ext uri="{FF2B5EF4-FFF2-40B4-BE49-F238E27FC236}">
                <a16:creationId xmlns:a16="http://schemas.microsoft.com/office/drawing/2014/main" id="{532DA766-1442-789D-6B51-AAD99E118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50" y="1219200"/>
            <a:ext cx="7385050" cy="4906963"/>
          </a:xfrm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2400" b="1" dirty="0">
                <a:solidFill>
                  <a:srgbClr val="C00000"/>
                </a:solidFill>
                <a:latin typeface="Times New Roman" pitchFamily="18" charset="0"/>
              </a:rPr>
              <a:t>Первоначальное накопление капитала</a:t>
            </a:r>
            <a:r>
              <a:rPr lang="ru-RU" sz="2400" dirty="0">
                <a:solidFill>
                  <a:srgbClr val="C00000"/>
                </a:solidFill>
              </a:rPr>
              <a:t> (</a:t>
            </a:r>
            <a:r>
              <a:rPr lang="en-US" sz="2400" dirty="0">
                <a:solidFill>
                  <a:srgbClr val="C00000"/>
                </a:solidFill>
              </a:rPr>
              <a:t>XV- XVIII</a:t>
            </a:r>
            <a:r>
              <a:rPr lang="ru-RU" sz="2400" dirty="0">
                <a:solidFill>
                  <a:srgbClr val="C00000"/>
                </a:solidFill>
              </a:rPr>
              <a:t> вв.)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ru-RU" sz="2000" b="1" dirty="0">
                <a:latin typeface="Times New Roman" pitchFamily="18" charset="0"/>
              </a:rPr>
              <a:t>процесс отделения непосредственного производителя от средств производства;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ru-RU" sz="2000" b="1" dirty="0">
                <a:latin typeface="Times New Roman" pitchFamily="18" charset="0"/>
              </a:rPr>
              <a:t>превращение денег в капитал;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ru-RU" sz="2000" b="1" dirty="0">
                <a:latin typeface="Times New Roman" pitchFamily="18" charset="0"/>
              </a:rPr>
              <a:t>рабочей силы – в товар.</a:t>
            </a:r>
          </a:p>
          <a:p>
            <a:pPr marL="365760" indent="-256032" algn="ctr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ru-RU" sz="2400" b="1" dirty="0">
                <a:solidFill>
                  <a:srgbClr val="C00000"/>
                </a:solidFill>
                <a:latin typeface="Times New Roman" pitchFamily="18" charset="0"/>
              </a:rPr>
              <a:t>Основные источники накопления капитала</a:t>
            </a:r>
          </a:p>
          <a:p>
            <a:pPr marL="566928" indent="-457200" eaLnBrk="1" fontAlgn="auto" hangingPunct="1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400" b="1" dirty="0">
                <a:latin typeface="Times New Roman" pitchFamily="18" charset="0"/>
              </a:rPr>
              <a:t>Колониальные войны,  работорговля, пиратство</a:t>
            </a:r>
          </a:p>
          <a:p>
            <a:pPr marL="566928" indent="-457200" eaLnBrk="1" fontAlgn="auto" hangingPunct="1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400" b="1" dirty="0">
                <a:latin typeface="Times New Roman" pitchFamily="18" charset="0"/>
              </a:rPr>
              <a:t>Торговые войны</a:t>
            </a:r>
          </a:p>
          <a:p>
            <a:pPr marL="566928" indent="-457200" eaLnBrk="1" fontAlgn="auto" hangingPunct="1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400" b="1" dirty="0">
                <a:latin typeface="Times New Roman" pitchFamily="18" charset="0"/>
              </a:rPr>
              <a:t>Государственные займы под высокие проценты</a:t>
            </a:r>
          </a:p>
          <a:p>
            <a:pPr marL="566928" indent="-457200" eaLnBrk="1" fontAlgn="auto" hangingPunct="1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400" b="1" dirty="0">
                <a:latin typeface="Times New Roman" pitchFamily="18" charset="0"/>
              </a:rPr>
              <a:t>Налоговая система</a:t>
            </a:r>
          </a:p>
          <a:p>
            <a:pPr marL="566928" indent="-457200" eaLnBrk="1" fontAlgn="auto" hangingPunct="1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400" b="1" dirty="0">
                <a:latin typeface="Times New Roman" pitchFamily="18" charset="0"/>
              </a:rPr>
              <a:t>Система протекционизма</a:t>
            </a:r>
          </a:p>
          <a:p>
            <a:pPr marL="566928" indent="-457200" eaLnBrk="1" fontAlgn="auto" hangingPunct="1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400" b="1" dirty="0">
                <a:latin typeface="Times New Roman" pitchFamily="18" charset="0"/>
              </a:rPr>
              <a:t>Порабощение и ограбление населения Африки, Азии, Северной и Южной Америки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endParaRPr lang="ru-RU" sz="2400" b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2000" b="1" dirty="0">
                <a:latin typeface="Times New Roman" pitchFamily="18" charset="0"/>
              </a:rPr>
              <a:t> </a:t>
            </a:r>
            <a:endParaRPr lang="ru-RU" sz="2000" dirty="0"/>
          </a:p>
        </p:txBody>
      </p:sp>
      <p:sp>
        <p:nvSpPr>
          <p:cNvPr id="38915" name="Номер слайда 4">
            <a:extLst>
              <a:ext uri="{FF2B5EF4-FFF2-40B4-BE49-F238E27FC236}">
                <a16:creationId xmlns:a16="http://schemas.microsoft.com/office/drawing/2014/main" id="{1B90109B-A2CB-C22C-8AF5-28F36216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317839-E27A-4D7D-B6A4-9027AC3F40DE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14338" name="Заголовок 1">
            <a:extLst>
              <a:ext uri="{FF2B5EF4-FFF2-40B4-BE49-F238E27FC236}">
                <a16:creationId xmlns:a16="http://schemas.microsoft.com/office/drawing/2014/main" id="{34329102-B96E-645B-28B4-81854708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2. Сущность первоначального</a:t>
            </a:r>
            <a:br>
              <a:rPr lang="ru-RU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</a:br>
            <a:r>
              <a:rPr lang="ru-RU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         накопления  капитала</a:t>
            </a:r>
            <a:br>
              <a:rPr lang="ru-RU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</a:br>
            <a:endParaRPr lang="ru-RU" sz="24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4" descr="coins_03_big">
            <a:extLst>
              <a:ext uri="{FF2B5EF4-FFF2-40B4-BE49-F238E27FC236}">
                <a16:creationId xmlns:a16="http://schemas.microsoft.com/office/drawing/2014/main" id="{65A9B35E-7FFE-5CE5-99DA-B8E29C113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09600"/>
            <a:ext cx="1524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7">
            <a:extLst>
              <a:ext uri="{FF2B5EF4-FFF2-40B4-BE49-F238E27FC236}">
                <a16:creationId xmlns:a16="http://schemas.microsoft.com/office/drawing/2014/main" id="{8A19A7AE-9388-CB1F-6551-BD0CDF537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667000"/>
            <a:ext cx="1524000" cy="15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19" name="Picture 8">
            <a:extLst>
              <a:ext uri="{FF2B5EF4-FFF2-40B4-BE49-F238E27FC236}">
                <a16:creationId xmlns:a16="http://schemas.microsoft.com/office/drawing/2014/main" id="{902439D0-E0AE-D0FA-D504-F88FDBFDC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178300"/>
            <a:ext cx="1524000" cy="199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Номер слайда 6">
            <a:extLst>
              <a:ext uri="{FF2B5EF4-FFF2-40B4-BE49-F238E27FC236}">
                <a16:creationId xmlns:a16="http://schemas.microsoft.com/office/drawing/2014/main" id="{FFE9A3C3-8F11-178F-19E5-B8BA1D12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49B41A-5CA3-4A70-9013-2B08209E04DE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073536D9-0FE2-7F7E-0756-CF8343E6C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4000" dirty="0">
                <a:solidFill>
                  <a:srgbClr val="C00000"/>
                </a:solidFill>
                <a:effectLst/>
              </a:rPr>
              <a:t> </a:t>
            </a:r>
            <a:r>
              <a:rPr lang="ru-RU" sz="2200" dirty="0">
                <a:solidFill>
                  <a:srgbClr val="C00000"/>
                </a:solidFill>
                <a:effectLst/>
              </a:rPr>
              <a:t>Условия первоначального накопления капитала</a:t>
            </a:r>
          </a:p>
        </p:txBody>
      </p:sp>
      <p:sp>
        <p:nvSpPr>
          <p:cNvPr id="40964" name="Прямоугольник 2">
            <a:extLst>
              <a:ext uri="{FF2B5EF4-FFF2-40B4-BE49-F238E27FC236}">
                <a16:creationId xmlns:a16="http://schemas.microsoft.com/office/drawing/2014/main" id="{42608105-C77B-3878-80EA-DC9490974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981200"/>
            <a:ext cx="76962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Lucida Sans Unicode" panose="020B0602030504020204" pitchFamily="34" charset="0"/>
              <a:buAutoNum type="arabicPeriod"/>
            </a:pPr>
            <a:r>
              <a:rPr lang="ru-RU" altLang="ru-RU" sz="1800" b="1">
                <a:latin typeface="Arial" panose="020B0604020202020204" pitchFamily="34" charset="0"/>
              </a:rPr>
              <a:t>Юридическое </a:t>
            </a:r>
            <a:r>
              <a:rPr lang="ru-RU" altLang="ru-RU" sz="1800" b="1" u="sng">
                <a:latin typeface="Arial" panose="020B0604020202020204" pitchFamily="34" charset="0"/>
              </a:rPr>
              <a:t>освобождение крестьян </a:t>
            </a:r>
            <a:r>
              <a:rPr lang="ru-RU" altLang="ru-RU" sz="1800" b="1">
                <a:latin typeface="Arial" panose="020B0604020202020204" pitchFamily="34" charset="0"/>
              </a:rPr>
              <a:t>от крепостной зависимости, а ремесленников от цеховых уставов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Lucida Sans Unicode" panose="020B0602030504020204" pitchFamily="34" charset="0"/>
              <a:buAutoNum type="arabicPeriod"/>
            </a:pPr>
            <a:r>
              <a:rPr lang="ru-RU" altLang="ru-RU" sz="1800" b="1">
                <a:latin typeface="Arial" panose="020B0604020202020204" pitchFamily="34" charset="0"/>
              </a:rPr>
              <a:t>Развитие к</a:t>
            </a:r>
            <a:r>
              <a:rPr lang="ru-RU" altLang="ru-RU" sz="1800" b="1" u="sng">
                <a:latin typeface="Arial" panose="020B0604020202020204" pitchFamily="34" charset="0"/>
              </a:rPr>
              <a:t>раткосрочной крестьянской аренды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Lucida Sans Unicode" panose="020B0602030504020204" pitchFamily="34" charset="0"/>
              <a:buAutoNum type="arabicPeriod"/>
            </a:pPr>
            <a:r>
              <a:rPr lang="ru-RU" altLang="ru-RU" sz="1800" b="1">
                <a:latin typeface="Arial" panose="020B0604020202020204" pitchFamily="34" charset="0"/>
              </a:rPr>
              <a:t>Принудительное лишение мелких товаропроизводителей средств производства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Lucida Sans Unicode" panose="020B0602030504020204" pitchFamily="34" charset="0"/>
              <a:buAutoNum type="arabicPeriod"/>
            </a:pPr>
            <a:r>
              <a:rPr lang="ru-RU" altLang="ru-RU" sz="1800" b="1">
                <a:latin typeface="Arial" panose="020B0604020202020204" pitchFamily="34" charset="0"/>
              </a:rPr>
              <a:t>Накопление денежных средств в руках цеховых мастеров, купцов, ростовщиков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Содержимое 2">
            <a:extLst>
              <a:ext uri="{FF2B5EF4-FFF2-40B4-BE49-F238E27FC236}">
                <a16:creationId xmlns:a16="http://schemas.microsoft.com/office/drawing/2014/main" id="{538B6E87-C7BC-B6F6-A9F7-8E8386946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ru-RU" sz="2400" b="1" dirty="0">
                <a:latin typeface="Times New Roman" pitchFamily="18" charset="0"/>
              </a:rPr>
              <a:t>насильственное отделение работников от средств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2400" b="1" dirty="0">
                <a:latin typeface="Times New Roman" pitchFamily="18" charset="0"/>
              </a:rPr>
              <a:t>     производства;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ru-RU" sz="2400" b="1" dirty="0">
                <a:latin typeface="Times New Roman" pitchFamily="18" charset="0"/>
              </a:rPr>
              <a:t>изгнание крестьян с земли;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ru-RU" sz="2400" b="1" dirty="0">
                <a:latin typeface="Times New Roman" pitchFamily="18" charset="0"/>
              </a:rPr>
              <a:t>превращение общинных земель в частную собственность;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ru-RU" sz="2400" b="1" dirty="0">
                <a:latin typeface="Times New Roman" pitchFamily="18" charset="0"/>
              </a:rPr>
              <a:t>ограбление колоний;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ru-RU" sz="2400" b="1" dirty="0">
                <a:latin typeface="Times New Roman" pitchFamily="18" charset="0"/>
              </a:rPr>
              <a:t>превращение рабов в бесплатную рабочую силу;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ru-RU" sz="2400" b="1" dirty="0">
                <a:latin typeface="Times New Roman" pitchFamily="18" charset="0"/>
              </a:rPr>
              <a:t>открытие золотых и серебряных приисков в Америке;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Blip>
                <a:blip r:embed="rId3"/>
              </a:buBlip>
              <a:defRPr/>
            </a:pPr>
            <a:r>
              <a:rPr lang="ru-RU" sz="2400" b="1" dirty="0">
                <a:latin typeface="Times New Roman" pitchFamily="18" charset="0"/>
              </a:rPr>
              <a:t>завоевание и разграбление Ост-Индии.</a:t>
            </a:r>
          </a:p>
          <a:p>
            <a:pPr marL="109728" indent="0" algn="ctr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ru-RU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Классический путь развития капитализма</a:t>
            </a:r>
          </a:p>
          <a:p>
            <a:pPr marL="566928" indent="-457200" eaLnBrk="1" fontAlgn="auto" hangingPunct="1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400" b="1" dirty="0">
                <a:latin typeface="Times New Roman" pitchFamily="18" charset="0"/>
              </a:rPr>
              <a:t>Первоначальное накопление капитала</a:t>
            </a:r>
          </a:p>
          <a:p>
            <a:pPr marL="566928" indent="-457200" eaLnBrk="1" fontAlgn="auto" hangingPunct="1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400" b="1" dirty="0">
                <a:latin typeface="Times New Roman" pitchFamily="18" charset="0"/>
              </a:rPr>
              <a:t>Простая капиталистическая кооперация</a:t>
            </a:r>
          </a:p>
          <a:p>
            <a:pPr marL="566928" indent="-457200" eaLnBrk="1" fontAlgn="auto" hangingPunct="1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400" b="1" dirty="0">
                <a:latin typeface="Times New Roman" pitchFamily="18" charset="0"/>
              </a:rPr>
              <a:t>Мануфактурное производство</a:t>
            </a:r>
          </a:p>
          <a:p>
            <a:pPr marL="566928" indent="-457200" eaLnBrk="1" fontAlgn="auto" hangingPunct="1">
              <a:lnSpc>
                <a:spcPct val="9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400" b="1" dirty="0">
                <a:latin typeface="Times New Roman" pitchFamily="18" charset="0"/>
              </a:rPr>
              <a:t>Капиталистическая фабрика</a:t>
            </a:r>
          </a:p>
          <a:p>
            <a:pPr marL="109728" indent="0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endParaRPr lang="ru-RU" sz="2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ru-RU" sz="2400" dirty="0"/>
          </a:p>
        </p:txBody>
      </p:sp>
      <p:sp>
        <p:nvSpPr>
          <p:cNvPr id="43011" name="Номер слайда 3">
            <a:extLst>
              <a:ext uri="{FF2B5EF4-FFF2-40B4-BE49-F238E27FC236}">
                <a16:creationId xmlns:a16="http://schemas.microsoft.com/office/drawing/2014/main" id="{C80F2E02-CE09-E02B-B7D0-32ABF24E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F7ACDE-E164-4D01-A2B1-63C2A93D02D8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17410" name="Заголовок 1">
            <a:extLst>
              <a:ext uri="{FF2B5EF4-FFF2-40B4-BE49-F238E27FC236}">
                <a16:creationId xmlns:a16="http://schemas.microsoft.com/office/drawing/2014/main" id="{9C3F89E7-67A8-BD39-F562-23574915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200" dirty="0">
                <a:solidFill>
                  <a:srgbClr val="C00000"/>
                </a:solidFill>
                <a:latin typeface="Times New Roman" pitchFamily="18" charset="0"/>
              </a:rPr>
              <a:t>Методы осуществления первоначального накопление капитала:</a:t>
            </a:r>
            <a:endParaRPr lang="ru-RU" sz="2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england">
            <a:extLst>
              <a:ext uri="{FF2B5EF4-FFF2-40B4-BE49-F238E27FC236}">
                <a16:creationId xmlns:a16="http://schemas.microsoft.com/office/drawing/2014/main" id="{3A39D2DA-435D-3EFA-C33E-9ACD62A354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524000"/>
            <a:ext cx="1828800" cy="2971800"/>
          </a:xfrm>
          <a:noFill/>
        </p:spPr>
      </p:pic>
      <p:sp>
        <p:nvSpPr>
          <p:cNvPr id="45059" name="Номер слайда 3">
            <a:extLst>
              <a:ext uri="{FF2B5EF4-FFF2-40B4-BE49-F238E27FC236}">
                <a16:creationId xmlns:a16="http://schemas.microsoft.com/office/drawing/2014/main" id="{28373C28-4DB4-0334-568F-D133AE3A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CF43CD-2355-48E5-988B-FE1A0D904341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19458" name="Заголовок 1">
            <a:extLst>
              <a:ext uri="{FF2B5EF4-FFF2-40B4-BE49-F238E27FC236}">
                <a16:creationId xmlns:a16="http://schemas.microsoft.com/office/drawing/2014/main" id="{514AD65E-B198-EF92-E969-3E262FA17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200" dirty="0">
                <a:solidFill>
                  <a:srgbClr val="C00000"/>
                </a:solidFill>
                <a:latin typeface="Times New Roman" pitchFamily="18" charset="0"/>
              </a:rPr>
              <a:t>Англия – классическая страна первоначального накопления капитала</a:t>
            </a:r>
            <a:br>
              <a:rPr lang="ru-RU" sz="2200" dirty="0">
                <a:solidFill>
                  <a:srgbClr val="C00000"/>
                </a:solidFill>
                <a:latin typeface="Times New Roman" pitchFamily="18" charset="0"/>
              </a:rPr>
            </a:br>
            <a:endParaRPr lang="ru-RU" sz="2200" dirty="0">
              <a:solidFill>
                <a:srgbClr val="C00000"/>
              </a:solidFill>
            </a:endParaRPr>
          </a:p>
        </p:txBody>
      </p:sp>
      <p:sp>
        <p:nvSpPr>
          <p:cNvPr id="19461" name="Прямоугольник 5">
            <a:extLst>
              <a:ext uri="{FF2B5EF4-FFF2-40B4-BE49-F238E27FC236}">
                <a16:creationId xmlns:a16="http://schemas.microsoft.com/office/drawing/2014/main" id="{D85328B7-CABE-3970-2019-E3EE71DFE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676400"/>
            <a:ext cx="6096000" cy="31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sz="2400" b="1" dirty="0">
                <a:solidFill>
                  <a:schemeClr val="hlink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Arial" charset="0"/>
              </a:rPr>
              <a:t>Англия</a:t>
            </a:r>
            <a:r>
              <a:rPr lang="ru-RU" sz="2000" b="1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ru-RU" sz="2000" b="1" dirty="0">
                <a:solidFill>
                  <a:srgbClr val="FF00FF"/>
                </a:solidFill>
                <a:latin typeface="Times New Roman" pitchFamily="18" charset="0"/>
                <a:cs typeface="Arial" charset="0"/>
              </a:rPr>
              <a:t>–</a:t>
            </a:r>
            <a:r>
              <a:rPr lang="ru-RU" sz="2000" b="1" dirty="0">
                <a:solidFill>
                  <a:schemeClr val="hlink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ru-RU" sz="2000" b="1" dirty="0">
                <a:latin typeface="Times New Roman" pitchFamily="18" charset="0"/>
                <a:cs typeface="Arial" charset="0"/>
              </a:rPr>
              <a:t> страна,</a:t>
            </a:r>
            <a:r>
              <a:rPr lang="ru-RU" sz="2000" b="1" dirty="0">
                <a:solidFill>
                  <a:schemeClr val="hlink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ru-RU" sz="2000" b="1" dirty="0">
                <a:latin typeface="Times New Roman" pitchFamily="18" charset="0"/>
                <a:cs typeface="Arial" charset="0"/>
              </a:rPr>
              <a:t>в которой произошла вторая в Европе буржуазная революция</a:t>
            </a:r>
            <a:r>
              <a:rPr lang="ru-RU" sz="2000" b="1" dirty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ru-RU" sz="2000" b="1" dirty="0">
                <a:latin typeface="Arial" charset="0"/>
                <a:cs typeface="Arial" charset="0"/>
              </a:rPr>
              <a:t>(1642 – 1649 гг.),</a:t>
            </a:r>
            <a:endParaRPr lang="ru-RU" sz="2000" b="1" dirty="0">
              <a:latin typeface="Times New Roman" pitchFamily="18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ru-RU" sz="2000" b="1" dirty="0">
                <a:latin typeface="Times New Roman" pitchFamily="18" charset="0"/>
                <a:cs typeface="Arial" charset="0"/>
              </a:rPr>
              <a:t>Англия стояла в стороне от всех континентальных конфликтов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000" b="1" dirty="0">
                <a:latin typeface="Times New Roman" pitchFamily="18" charset="0"/>
                <a:cs typeface="Arial" charset="0"/>
              </a:rPr>
              <a:t>Оказалась в центре мировых морских торговых путей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ru-RU" sz="2000" b="1" dirty="0">
                <a:latin typeface="Times New Roman" pitchFamily="18" charset="0"/>
                <a:cs typeface="Arial" charset="0"/>
              </a:rPr>
              <a:t>До </a:t>
            </a:r>
            <a:r>
              <a:rPr lang="en-US" sz="2000" b="1" dirty="0">
                <a:latin typeface="Times New Roman" pitchFamily="18" charset="0"/>
                <a:cs typeface="Arial" charset="0"/>
              </a:rPr>
              <a:t>XVII</a:t>
            </a:r>
            <a:r>
              <a:rPr lang="ru-RU" sz="2000" b="1" dirty="0">
                <a:latin typeface="Times New Roman" pitchFamily="18" charset="0"/>
                <a:cs typeface="Arial" charset="0"/>
              </a:rPr>
              <a:t> века </a:t>
            </a:r>
            <a:r>
              <a:rPr lang="ru-RU" sz="2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Arial" charset="0"/>
              </a:rPr>
              <a:t>суконное производство</a:t>
            </a:r>
            <a:r>
              <a:rPr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Arial" charset="0"/>
              </a:rPr>
              <a:t> </a:t>
            </a:r>
            <a:r>
              <a:rPr lang="ru-RU" sz="2000" b="1" dirty="0">
                <a:latin typeface="Times New Roman" pitchFamily="18" charset="0"/>
                <a:cs typeface="Arial" charset="0"/>
              </a:rPr>
              <a:t>играло </a:t>
            </a:r>
            <a:r>
              <a:rPr lang="ru-RU" sz="2000" b="1" i="1" dirty="0">
                <a:latin typeface="Times New Roman" pitchFamily="18" charset="0"/>
                <a:cs typeface="Arial" charset="0"/>
              </a:rPr>
              <a:t>ведущую роль</a:t>
            </a:r>
            <a:r>
              <a:rPr lang="ru-RU" sz="2000" b="1" dirty="0">
                <a:latin typeface="Times New Roman" pitchFamily="18" charset="0"/>
                <a:cs typeface="Arial" charset="0"/>
              </a:rPr>
              <a:t> в экономике Англии: 90% населения было занято в этой отрасли.</a:t>
            </a:r>
            <a:endParaRPr lang="en-US" sz="2000" b="1" dirty="0">
              <a:latin typeface="Times New Roman" pitchFamily="18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ru-RU" dirty="0">
              <a:latin typeface="Times New Roman" pitchFamily="18" charset="0"/>
              <a:cs typeface="Arial" charset="0"/>
            </a:endParaRPr>
          </a:p>
        </p:txBody>
      </p:sp>
      <p:pic>
        <p:nvPicPr>
          <p:cNvPr id="7" name="Picture 4" descr="ib-2527">
            <a:extLst>
              <a:ext uri="{FF2B5EF4-FFF2-40B4-BE49-F238E27FC236}">
                <a16:creationId xmlns:a16="http://schemas.microsoft.com/office/drawing/2014/main" id="{19642EFB-5495-5840-A3C5-FE4742737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72000"/>
            <a:ext cx="12954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Содержимое 2">
            <a:extLst>
              <a:ext uri="{FF2B5EF4-FFF2-40B4-BE49-F238E27FC236}">
                <a16:creationId xmlns:a16="http://schemas.microsoft.com/office/drawing/2014/main" id="{36FA32FA-19D5-C5FA-02FE-29B0D18C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400800"/>
          </a:xfrm>
        </p:spPr>
        <p:txBody>
          <a:bodyPr>
            <a:normAutofit/>
          </a:bodyPr>
          <a:lstStyle/>
          <a:p>
            <a:pPr marL="365760" indent="-256032"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2400" b="1" dirty="0">
                <a:solidFill>
                  <a:srgbClr val="FFC000"/>
                </a:solidFill>
                <a:latin typeface="Times New Roman" pitchFamily="18" charset="0"/>
              </a:rPr>
              <a:t> </a:t>
            </a:r>
          </a:p>
          <a:p>
            <a:pPr marL="365760" indent="-256032"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2200" b="1" dirty="0">
                <a:solidFill>
                  <a:srgbClr val="C00000"/>
                </a:solidFill>
                <a:latin typeface="Times New Roman" pitchFamily="18" charset="0"/>
              </a:rPr>
              <a:t>Процесс первоначального накопления капитала в Англии проявлялся в политике  «огораживания» земель</a:t>
            </a:r>
          </a:p>
          <a:p>
            <a:pPr marL="365760" indent="-256032"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ru-RU" sz="2200" b="1" dirty="0">
              <a:solidFill>
                <a:srgbClr val="FFC000"/>
              </a:solidFill>
              <a:latin typeface="Times New Roman" pitchFamily="18" charset="0"/>
            </a:endParaRP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Огораживание </a:t>
            </a:r>
            <a:r>
              <a:rPr lang="ru-RU" sz="2200" b="1" i="1" dirty="0">
                <a:solidFill>
                  <a:srgbClr val="C00000"/>
                </a:solidFill>
                <a:latin typeface="Times New Roman" pitchFamily="18" charset="0"/>
              </a:rPr>
              <a:t>–  </a:t>
            </a:r>
            <a:r>
              <a:rPr lang="ru-RU" sz="2200" b="1" i="1" dirty="0">
                <a:latin typeface="Times New Roman" pitchFamily="18" charset="0"/>
              </a:rPr>
              <a:t>насильственный сгон крестьян с </a:t>
            </a:r>
            <a:r>
              <a:rPr lang="ru-RU" sz="2200" b="1" dirty="0">
                <a:latin typeface="Times New Roman" pitchFamily="18" charset="0"/>
              </a:rPr>
              <a:t>земли превращение пахотных земель в пастбища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Формирование </a:t>
            </a:r>
            <a:r>
              <a:rPr lang="ru-RU" sz="22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рынка рабочей силы</a:t>
            </a:r>
            <a:r>
              <a:rPr lang="ru-RU" sz="2200" b="1" dirty="0">
                <a:latin typeface="Times New Roman" pitchFamily="18" charset="0"/>
              </a:rPr>
              <a:t> -  условие развития </a:t>
            </a:r>
            <a:r>
              <a:rPr lang="ru-RU" sz="2200" b="1" i="1" dirty="0">
                <a:latin typeface="Times New Roman" pitchFamily="18" charset="0"/>
              </a:rPr>
              <a:t>капиталистических отношений</a:t>
            </a:r>
            <a:r>
              <a:rPr lang="ru-RU" sz="2200" b="1" dirty="0">
                <a:latin typeface="Times New Roman" pitchFamily="18" charset="0"/>
              </a:rPr>
              <a:t> и мануфактурного производства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ru-RU" sz="2200" b="1" dirty="0">
              <a:latin typeface="Times New Roman" pitchFamily="18" charset="0"/>
            </a:endParaRPr>
          </a:p>
          <a:p>
            <a:pPr marL="365760" indent="-256032" algn="just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ru-RU" sz="1600" b="1" dirty="0">
                <a:latin typeface="Times New Roman" pitchFamily="18" charset="0"/>
              </a:rPr>
              <a:t>20% английских крестьян –</a:t>
            </a:r>
            <a:r>
              <a:rPr lang="ru-RU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фригольдеры</a:t>
            </a:r>
            <a:r>
              <a:rPr lang="ru-RU" sz="1600" b="1" dirty="0">
                <a:latin typeface="Times New Roman" pitchFamily="18" charset="0"/>
              </a:rPr>
              <a:t>,   </a:t>
            </a:r>
            <a:r>
              <a:rPr lang="ru-RU" sz="1600" b="1" u="sng" dirty="0">
                <a:latin typeface="Times New Roman" pitchFamily="18" charset="0"/>
              </a:rPr>
              <a:t>свободно распоряжались </a:t>
            </a:r>
            <a:r>
              <a:rPr lang="ru-RU" sz="1600" b="1" dirty="0">
                <a:latin typeface="Times New Roman" pitchFamily="18" charset="0"/>
              </a:rPr>
              <a:t>землёй, платили лендлордам ренту</a:t>
            </a:r>
          </a:p>
          <a:p>
            <a:pPr marL="365760" indent="-256032" algn="just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ru-RU" sz="1600" b="1" dirty="0">
                <a:latin typeface="Times New Roman" pitchFamily="18" charset="0"/>
              </a:rPr>
              <a:t>60% крестьян – </a:t>
            </a:r>
            <a:r>
              <a:rPr lang="ru-RU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копигольдеры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ru-RU" sz="1600" b="1" dirty="0">
                <a:latin typeface="Times New Roman" pitchFamily="18" charset="0"/>
              </a:rPr>
              <a:t>были </a:t>
            </a:r>
            <a:r>
              <a:rPr lang="ru-RU" sz="1600" b="1" u="sng" dirty="0">
                <a:latin typeface="Times New Roman" pitchFamily="18" charset="0"/>
              </a:rPr>
              <a:t>наследственными держателями</a:t>
            </a:r>
            <a:r>
              <a:rPr lang="ru-RU" sz="1600" b="1" dirty="0">
                <a:latin typeface="Times New Roman" pitchFamily="18" charset="0"/>
              </a:rPr>
              <a:t> земли, платили дань </a:t>
            </a:r>
          </a:p>
          <a:p>
            <a:pPr marL="365760" indent="-256032" algn="just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ru-RU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Лизгольдеры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ru-RU" sz="1600" b="1" dirty="0">
                <a:latin typeface="Times New Roman" pitchFamily="18" charset="0"/>
              </a:rPr>
              <a:t>– </a:t>
            </a:r>
            <a:r>
              <a:rPr lang="ru-RU" sz="1600" b="1" u="sng" dirty="0">
                <a:latin typeface="Times New Roman" pitchFamily="18" charset="0"/>
              </a:rPr>
              <a:t>кратковременные</a:t>
            </a:r>
            <a:r>
              <a:rPr lang="ru-RU" sz="1600" b="1" dirty="0">
                <a:latin typeface="Times New Roman" pitchFamily="18" charset="0"/>
              </a:rPr>
              <a:t> арендаторы</a:t>
            </a:r>
          </a:p>
          <a:p>
            <a:pPr marL="365760" indent="-256032" algn="just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ru-RU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Коттеры</a:t>
            </a:r>
            <a:r>
              <a:rPr lang="ru-RU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ru-RU" sz="1600" b="1" dirty="0">
                <a:latin typeface="Times New Roman" pitchFamily="18" charset="0"/>
              </a:rPr>
              <a:t>– </a:t>
            </a:r>
            <a:r>
              <a:rPr lang="ru-RU" sz="1600" b="1" u="sng" dirty="0">
                <a:latin typeface="Times New Roman" pitchFamily="18" charset="0"/>
              </a:rPr>
              <a:t>безземельные</a:t>
            </a:r>
            <a:r>
              <a:rPr lang="ru-RU" sz="1600" b="1" dirty="0">
                <a:latin typeface="Times New Roman" pitchFamily="18" charset="0"/>
              </a:rPr>
              <a:t> крестьяне, батраки</a:t>
            </a:r>
          </a:p>
          <a:p>
            <a:pPr marL="365760" indent="-256032" algn="just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ru-RU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Пауперы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ru-RU" sz="1600" b="1" dirty="0">
                <a:latin typeface="Times New Roman" pitchFamily="18" charset="0"/>
              </a:rPr>
              <a:t>– </a:t>
            </a:r>
            <a:r>
              <a:rPr lang="ru-RU" sz="1600" b="1" u="sng" dirty="0">
                <a:latin typeface="Times New Roman" pitchFamily="18" charset="0"/>
              </a:rPr>
              <a:t>неимущие</a:t>
            </a:r>
            <a:r>
              <a:rPr lang="ru-RU" sz="1600" b="1" dirty="0">
                <a:latin typeface="Times New Roman" pitchFamily="18" charset="0"/>
              </a:rPr>
              <a:t> крестьяне, нищие, бродяги</a:t>
            </a:r>
          </a:p>
          <a:p>
            <a:pPr marL="365760" indent="-256032"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ru-RU" sz="1600" b="1" dirty="0">
              <a:latin typeface="Times New Roman" pitchFamily="18" charset="0"/>
            </a:endParaRPr>
          </a:p>
          <a:p>
            <a:pPr marL="365760" indent="-256032" algn="just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ru-RU" dirty="0"/>
          </a:p>
        </p:txBody>
      </p:sp>
      <p:sp>
        <p:nvSpPr>
          <p:cNvPr id="47107" name="Номер слайда 3">
            <a:extLst>
              <a:ext uri="{FF2B5EF4-FFF2-40B4-BE49-F238E27FC236}">
                <a16:creationId xmlns:a16="http://schemas.microsoft.com/office/drawing/2014/main" id="{2852C72E-A1C2-C9F6-7F6B-CEA96BCD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676473-A582-4926-822C-5C746E248508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pic>
        <p:nvPicPr>
          <p:cNvPr id="47108" name="Picture 11">
            <a:extLst>
              <a:ext uri="{FF2B5EF4-FFF2-40B4-BE49-F238E27FC236}">
                <a16:creationId xmlns:a16="http://schemas.microsoft.com/office/drawing/2014/main" id="{66E4C45C-7C58-F42F-C801-D18C466A2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876800"/>
            <a:ext cx="3505200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3106A84A-1351-738F-6CA1-FFFBC157B6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562600"/>
          </a:xfrm>
        </p:spPr>
        <p:txBody>
          <a:bodyPr/>
          <a:lstStyle/>
          <a:p>
            <a:pPr algn="just" eaLnBrk="1" hangingPunct="1"/>
            <a:r>
              <a:rPr lang="ru-RU" altLang="ru-RU" sz="1800" b="1"/>
              <a:t>Началось с аграрного переворота - политика огораживания </a:t>
            </a:r>
          </a:p>
          <a:p>
            <a:pPr algn="just" eaLnBrk="1" hangingPunct="1"/>
            <a:r>
              <a:rPr lang="ru-RU" altLang="ru-RU" sz="1800" b="1"/>
              <a:t>Реформа церкви – </a:t>
            </a:r>
            <a:r>
              <a:rPr lang="ru-RU" altLang="ru-RU" sz="1800" b="1">
                <a:solidFill>
                  <a:srgbClr val="C00000"/>
                </a:solidFill>
              </a:rPr>
              <a:t>секуляризация </a:t>
            </a:r>
            <a:r>
              <a:rPr lang="ru-RU" altLang="ru-RU" sz="1800" b="1"/>
              <a:t>имущества монастырей</a:t>
            </a:r>
          </a:p>
          <a:p>
            <a:pPr algn="just" eaLnBrk="1" hangingPunct="1"/>
            <a:r>
              <a:rPr lang="ru-RU" altLang="ru-RU" sz="1800" b="1"/>
              <a:t>Законодательство о </a:t>
            </a:r>
            <a:r>
              <a:rPr lang="ru-RU" altLang="ru-RU" sz="1800" b="1">
                <a:solidFill>
                  <a:srgbClr val="C00000"/>
                </a:solidFill>
              </a:rPr>
              <a:t>«бродягах». </a:t>
            </a:r>
            <a:r>
              <a:rPr lang="ru-RU" altLang="ru-RU" sz="1400"/>
              <a:t>Низкие урожаи в период с 1595—98 годов вызвали увеличение бедности в условиях сократившихся пожертвований после закрытия монастырей и роспуска религиозных гильдий.В 1495 году парламент принял статут, предписывающий властям «хватать всех таких бродяг, бездельников и подозрительных и заковывать в колодки, и держать их так три дня и три ночи на хлебе и воде; и по истечении этих трëх дней и трëх ночей выпускать их на волю, приказывая, чтобы те больше не появлялись в городе». </a:t>
            </a:r>
          </a:p>
          <a:p>
            <a:pPr algn="just" eaLnBrk="1" hangingPunct="1"/>
            <a:r>
              <a:rPr lang="ru-RU" altLang="ru-RU" sz="1800" b="1"/>
              <a:t>Политика </a:t>
            </a:r>
            <a:r>
              <a:rPr lang="ru-RU" altLang="ru-RU" sz="1800" b="1">
                <a:solidFill>
                  <a:srgbClr val="C00000"/>
                </a:solidFill>
              </a:rPr>
              <a:t>меркантилизма </a:t>
            </a:r>
            <a:r>
              <a:rPr lang="ru-RU" altLang="ru-RU" sz="1800" b="1"/>
              <a:t>– развитие внутреннего и внешнего рынка</a:t>
            </a:r>
          </a:p>
          <a:p>
            <a:pPr algn="just" eaLnBrk="1" hangingPunct="1"/>
            <a:r>
              <a:rPr lang="ru-RU" altLang="ru-RU" sz="1800" b="1"/>
              <a:t>Государственные </a:t>
            </a:r>
            <a:r>
              <a:rPr lang="ru-RU" altLang="ru-RU" sz="1800" b="1">
                <a:solidFill>
                  <a:srgbClr val="C00000"/>
                </a:solidFill>
              </a:rPr>
              <a:t>займы</a:t>
            </a:r>
          </a:p>
          <a:p>
            <a:pPr algn="just" eaLnBrk="1" hangingPunct="1"/>
            <a:r>
              <a:rPr lang="ru-RU" altLang="ru-RU" sz="1800" b="1">
                <a:solidFill>
                  <a:srgbClr val="FFC000"/>
                </a:solidFill>
              </a:rPr>
              <a:t> </a:t>
            </a:r>
            <a:r>
              <a:rPr lang="ru-RU" altLang="ru-RU" sz="1800" b="1">
                <a:solidFill>
                  <a:srgbClr val="C00000"/>
                </a:solidFill>
              </a:rPr>
              <a:t>Работорговля </a:t>
            </a:r>
            <a:r>
              <a:rPr lang="ru-RU" altLang="ru-RU" sz="1800" b="1"/>
              <a:t>– с 1562 по 1775 г. вывезли из Африки в Америку около 3 млн. человек</a:t>
            </a:r>
          </a:p>
          <a:p>
            <a:pPr algn="just" eaLnBrk="1" hangingPunct="1"/>
            <a:r>
              <a:rPr lang="ru-RU" altLang="ru-RU" sz="1800" b="1"/>
              <a:t>1651 г. – </a:t>
            </a:r>
            <a:r>
              <a:rPr lang="ru-RU" altLang="ru-RU" sz="1800" b="1">
                <a:solidFill>
                  <a:srgbClr val="C00000"/>
                </a:solidFill>
              </a:rPr>
              <a:t>Навигационный акт Кромвеля </a:t>
            </a:r>
            <a:r>
              <a:rPr lang="ru-RU" altLang="ru-RU" sz="1800" b="1"/>
              <a:t>против Голландии</a:t>
            </a:r>
          </a:p>
          <a:p>
            <a:pPr algn="just" eaLnBrk="1" hangingPunct="1"/>
            <a:r>
              <a:rPr lang="ru-RU" altLang="ru-RU" sz="1800" b="1"/>
              <a:t>Вытеснение мелкого и среднего крестьянства крупной земельной собственностью, возможность применения новой </a:t>
            </a:r>
            <a:r>
              <a:rPr lang="ru-RU" altLang="ru-RU" sz="1800" b="1">
                <a:solidFill>
                  <a:srgbClr val="C00000"/>
                </a:solidFill>
              </a:rPr>
              <a:t>агротехники</a:t>
            </a:r>
          </a:p>
          <a:p>
            <a:pPr algn="just" eaLnBrk="1" hangingPunct="1"/>
            <a:r>
              <a:rPr lang="ru-RU" altLang="ru-RU" sz="1800" b="1"/>
              <a:t>Открытие в </a:t>
            </a:r>
            <a:r>
              <a:rPr lang="ru-RU" altLang="ru-RU" sz="1800" b="1">
                <a:solidFill>
                  <a:srgbClr val="C00000"/>
                </a:solidFill>
              </a:rPr>
              <a:t>1694 г. Английского банка</a:t>
            </a:r>
            <a:r>
              <a:rPr lang="ru-RU" altLang="ru-RU" sz="1800" b="1"/>
              <a:t> превратило Лондон в финансовый центр Европы </a:t>
            </a:r>
          </a:p>
          <a:p>
            <a:pPr eaLnBrk="1" hangingPunct="1"/>
            <a:endParaRPr lang="ru-RU" altLang="ru-RU" sz="2200" b="1"/>
          </a:p>
          <a:p>
            <a:pPr eaLnBrk="1" hangingPunct="1">
              <a:buFontTx/>
              <a:buNone/>
            </a:pPr>
            <a:endParaRPr lang="ru-RU" altLang="ru-RU" sz="2200">
              <a:solidFill>
                <a:srgbClr val="FFFF00"/>
              </a:solidFill>
            </a:endParaRPr>
          </a:p>
        </p:txBody>
      </p:sp>
      <p:sp>
        <p:nvSpPr>
          <p:cNvPr id="49155" name="Номер слайда 5">
            <a:extLst>
              <a:ext uri="{FF2B5EF4-FFF2-40B4-BE49-F238E27FC236}">
                <a16:creationId xmlns:a16="http://schemas.microsoft.com/office/drawing/2014/main" id="{710B92A0-5370-25FC-770C-DC7A6720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91073A-CD92-4508-AFAA-B31E238F9ADA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4AB19DF-DF46-8A9D-6E63-5909B5C16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400" dirty="0">
                <a:solidFill>
                  <a:srgbClr val="C00000"/>
                </a:solidFill>
              </a:rPr>
              <a:t>Первоначальное накопление капитала в Англии</a:t>
            </a:r>
            <a:br>
              <a:rPr lang="ru-RU" sz="2400" dirty="0">
                <a:solidFill>
                  <a:srgbClr val="C00000"/>
                </a:solidFill>
              </a:rPr>
            </a:b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XV-XVIII</a:t>
            </a:r>
            <a:r>
              <a:rPr lang="ru-RU" sz="2400" dirty="0">
                <a:solidFill>
                  <a:srgbClr val="C00000"/>
                </a:solidFill>
              </a:rPr>
              <a:t> вв.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113F845A-1D08-43CB-F28E-388C0B0087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481138"/>
            <a:ext cx="8686800" cy="4843462"/>
          </a:xfrm>
        </p:spPr>
        <p:txBody>
          <a:bodyPr>
            <a:normAutofit lnSpcReduction="10000"/>
          </a:bodyPr>
          <a:lstStyle/>
          <a:p>
            <a:pPr marL="566928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000" b="1" dirty="0"/>
              <a:t>Крепостное право не получило значительного развития</a:t>
            </a:r>
          </a:p>
          <a:p>
            <a:pPr marL="566928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000" b="1" dirty="0"/>
              <a:t>Лидерство в мировой торговле, </a:t>
            </a:r>
            <a:r>
              <a:rPr lang="ru-RU" sz="2000" b="1" u="sng" dirty="0"/>
              <a:t>приоритет внешней торговли</a:t>
            </a:r>
          </a:p>
          <a:p>
            <a:pPr marL="566928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000" b="1" u="sng" dirty="0"/>
              <a:t>Отсутствие меркантилизма</a:t>
            </a:r>
            <a:r>
              <a:rPr lang="ru-RU" sz="2000" b="1" dirty="0"/>
              <a:t> </a:t>
            </a:r>
            <a:r>
              <a:rPr lang="ru-RU" sz="2000" b="1" dirty="0" err="1"/>
              <a:t>т.к</a:t>
            </a:r>
            <a:r>
              <a:rPr lang="ru-RU" sz="2000" b="1" dirty="0"/>
              <a:t> . не было единой денежной системы</a:t>
            </a:r>
          </a:p>
          <a:p>
            <a:pPr marL="566928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000" b="1" dirty="0"/>
              <a:t>Активизация </a:t>
            </a:r>
            <a:r>
              <a:rPr lang="ru-RU" sz="2000" b="1" u="sng" dirty="0"/>
              <a:t>ростовщических сделок  </a:t>
            </a:r>
          </a:p>
          <a:p>
            <a:pPr marL="109728" indent="0"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ru-RU" sz="2000" b="1" dirty="0">
                <a:solidFill>
                  <a:srgbClr val="C00000"/>
                </a:solidFill>
              </a:rPr>
              <a:t>Факторы экономического роста Голландии</a:t>
            </a:r>
          </a:p>
          <a:p>
            <a:pPr marL="365760" indent="-256032" algn="just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ru-RU" sz="2000" b="1" dirty="0"/>
              <a:t>Буржуазная Революция (1566–1609 гг.) Создала благоприятные условия  для развития капиталистической экономики</a:t>
            </a:r>
          </a:p>
          <a:p>
            <a:pPr marL="365760" indent="-256032" algn="just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ru-RU" sz="2000" b="1" dirty="0"/>
              <a:t>Главная сфера применения капитала – торговля и морские перевозки</a:t>
            </a:r>
          </a:p>
          <a:p>
            <a:pPr marL="365760" indent="-256032" algn="just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ru-RU" sz="2000" b="1" dirty="0"/>
              <a:t>Великие географические открытия – Голландия в центре мировых торговых путей</a:t>
            </a:r>
          </a:p>
          <a:p>
            <a:pPr marL="365760" indent="-256032" algn="just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ru-RU" sz="2000" b="1" dirty="0"/>
              <a:t>Эмиграционная политика государства -  промышленный подъём</a:t>
            </a:r>
          </a:p>
          <a:p>
            <a:pPr marL="109728" indent="0"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ru-RU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ru-RU" dirty="0">
              <a:solidFill>
                <a:srgbClr val="FFFF00"/>
              </a:solidFill>
            </a:endParaRPr>
          </a:p>
        </p:txBody>
      </p:sp>
      <p:sp>
        <p:nvSpPr>
          <p:cNvPr id="51203" name="Номер слайда 5">
            <a:extLst>
              <a:ext uri="{FF2B5EF4-FFF2-40B4-BE49-F238E27FC236}">
                <a16:creationId xmlns:a16="http://schemas.microsoft.com/office/drawing/2014/main" id="{E019CBF9-FA3D-934B-B10D-BB9F71D6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15ED32-A0D9-4D12-B46B-2E4B0EB905FA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B1C71A3-B7D7-4515-DB9A-D03539FF8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400" dirty="0">
                <a:solidFill>
                  <a:srgbClr val="C00000"/>
                </a:solidFill>
                <a:effectLst/>
              </a:rPr>
              <a:t>Первоначальное накопление капитала </a:t>
            </a:r>
            <a:br>
              <a:rPr lang="ru-RU" sz="2400" dirty="0">
                <a:solidFill>
                  <a:srgbClr val="C00000"/>
                </a:solidFill>
                <a:effectLst/>
              </a:rPr>
            </a:br>
            <a:r>
              <a:rPr lang="ru-RU" sz="2400" dirty="0">
                <a:solidFill>
                  <a:srgbClr val="C00000"/>
                </a:solidFill>
                <a:effectLst/>
              </a:rPr>
              <a:t>в Голландии в </a:t>
            </a:r>
            <a:r>
              <a:rPr lang="en-US" sz="2400" dirty="0">
                <a:solidFill>
                  <a:srgbClr val="C00000"/>
                </a:solidFill>
                <a:effectLst/>
              </a:rPr>
              <a:t>XV </a:t>
            </a:r>
            <a:r>
              <a:rPr lang="ru-RU" sz="2400" dirty="0">
                <a:solidFill>
                  <a:srgbClr val="C00000"/>
                </a:solidFill>
                <a:effectLst/>
              </a:rPr>
              <a:t>в.</a:t>
            </a:r>
            <a:br>
              <a:rPr lang="ru-RU" sz="2400" dirty="0">
                <a:solidFill>
                  <a:srgbClr val="C00000"/>
                </a:solidFill>
                <a:effectLst/>
              </a:rPr>
            </a:br>
            <a:endParaRPr lang="ru-RU" sz="2400" dirty="0">
              <a:solidFill>
                <a:srgbClr val="C00000"/>
              </a:solidFill>
              <a:effectLst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E7F65551-93DC-78E8-E40F-E594CB84B2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28600"/>
          <a:ext cx="8686800" cy="5897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3251" name="Номер слайда 3">
            <a:extLst>
              <a:ext uri="{FF2B5EF4-FFF2-40B4-BE49-F238E27FC236}">
                <a16:creationId xmlns:a16="http://schemas.microsoft.com/office/drawing/2014/main" id="{BF882251-8B92-5DE2-7B27-3914435C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08F9C5-6B86-4DEA-BA86-087750B15FF8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ru-RU" altLang="ru-RU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Содержимое 2">
            <a:extLst>
              <a:ext uri="{FF2B5EF4-FFF2-40B4-BE49-F238E27FC236}">
                <a16:creationId xmlns:a16="http://schemas.microsoft.com/office/drawing/2014/main" id="{4C2ACCE0-33E0-CD0C-738B-DBCDE40F3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365760" indent="-256032" algn="ctr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Причины потери Голландии ведущих позиций в мире:</a:t>
            </a:r>
            <a:endParaRPr lang="ru-RU" sz="2400" b="1" dirty="0">
              <a:solidFill>
                <a:srgbClr val="C00000"/>
              </a:solidFill>
            </a:endParaRPr>
          </a:p>
          <a:p>
            <a:pPr marL="566928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200" b="1" dirty="0">
                <a:latin typeface="Times New Roman" pitchFamily="18" charset="0"/>
              </a:rPr>
              <a:t>отсутствие мощной ресурсной базы (территории, сырья, рабочей силы)</a:t>
            </a:r>
          </a:p>
          <a:p>
            <a:pPr marL="566928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200" b="1" dirty="0">
                <a:latin typeface="Times New Roman" pitchFamily="18" charset="0"/>
              </a:rPr>
              <a:t>спекулятивный характер капитала, </a:t>
            </a:r>
            <a:r>
              <a:rPr lang="ru-RU" sz="2200" b="1" dirty="0"/>
              <a:t> </a:t>
            </a:r>
            <a:r>
              <a:rPr lang="ru-RU" sz="2200" b="1" dirty="0">
                <a:latin typeface="Times New Roman" pitchFamily="18" charset="0"/>
              </a:rPr>
              <a:t>опора на посредническую торговлю</a:t>
            </a:r>
          </a:p>
          <a:p>
            <a:pPr marL="566928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200" b="1" dirty="0">
                <a:latin typeface="Times New Roman" pitchFamily="18" charset="0"/>
              </a:rPr>
              <a:t> зависимость от мировой торговой        конъюнктуры;</a:t>
            </a:r>
          </a:p>
          <a:p>
            <a:pPr marL="566928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200" b="1" dirty="0">
                <a:latin typeface="Times New Roman" pitchFamily="18" charset="0"/>
              </a:rPr>
              <a:t>слабое развитие мануфактурного производства;</a:t>
            </a:r>
          </a:p>
          <a:p>
            <a:pPr marL="566928" indent="-4572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200" b="1" dirty="0">
                <a:latin typeface="Times New Roman" pitchFamily="18" charset="0"/>
              </a:rPr>
              <a:t>неудачные колониальные войны.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endParaRPr lang="ru-RU" sz="2400" dirty="0"/>
          </a:p>
        </p:txBody>
      </p:sp>
      <p:sp>
        <p:nvSpPr>
          <p:cNvPr id="55299" name="Номер слайда 3">
            <a:extLst>
              <a:ext uri="{FF2B5EF4-FFF2-40B4-BE49-F238E27FC236}">
                <a16:creationId xmlns:a16="http://schemas.microsoft.com/office/drawing/2014/main" id="{4D3999C2-E96D-A4E7-1C14-C006CB61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A2F894-BF68-426D-AE16-F973EA91AF4D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pic>
        <p:nvPicPr>
          <p:cNvPr id="55300" name="Picture 4">
            <a:extLst>
              <a:ext uri="{FF2B5EF4-FFF2-40B4-BE49-F238E27FC236}">
                <a16:creationId xmlns:a16="http://schemas.microsoft.com/office/drawing/2014/main" id="{B4A6F89D-DB33-2AF2-3117-CA084E244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114800"/>
            <a:ext cx="2541588" cy="179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6729D32F-1349-CF85-D919-602E5C8CC3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229600" cy="4525963"/>
          </a:xfrm>
        </p:spPr>
        <p:txBody>
          <a:bodyPr/>
          <a:lstStyle/>
          <a:p>
            <a:pPr eaLnBrk="1" hangingPunct="1"/>
            <a:r>
              <a:rPr lang="ru-RU" altLang="ru-RU" sz="2000" b="1"/>
              <a:t>Удаленность от мировых торговых путей, относительное перенаселение</a:t>
            </a:r>
          </a:p>
          <a:p>
            <a:pPr eaLnBrk="1" hangingPunct="1"/>
            <a:r>
              <a:rPr lang="ru-RU" altLang="ru-RU" sz="2000" b="1"/>
              <a:t>Капиталы вкладывали в землевладение, приобретение титулов</a:t>
            </a:r>
          </a:p>
          <a:p>
            <a:pPr eaLnBrk="1" hangingPunct="1"/>
            <a:r>
              <a:rPr lang="ru-RU" altLang="ru-RU" sz="2000" b="1"/>
              <a:t>Имущественное расслоение в результате роста налогов и ростовщичества</a:t>
            </a:r>
          </a:p>
          <a:p>
            <a:pPr eaLnBrk="1" hangingPunct="1"/>
            <a:r>
              <a:rPr lang="ru-RU" altLang="ru-RU" sz="2000" b="1"/>
              <a:t>Отличительная особенность аграрного сектора – отсутствие помещичьих  хозяйств</a:t>
            </a:r>
          </a:p>
          <a:p>
            <a:pPr eaLnBrk="1" hangingPunct="1"/>
            <a:r>
              <a:rPr lang="ru-RU" altLang="ru-RU" sz="2000" b="1"/>
              <a:t>Не характерна массовая экспроприация крестьянства</a:t>
            </a:r>
          </a:p>
          <a:p>
            <a:pPr eaLnBrk="1" hangingPunct="1"/>
            <a:r>
              <a:rPr lang="ru-RU" altLang="ru-RU" sz="2000" b="1"/>
              <a:t>Возникновение новых видов торговых городов – «порто-франко»</a:t>
            </a:r>
          </a:p>
          <a:p>
            <a:pPr eaLnBrk="1" hangingPunct="1"/>
            <a:endParaRPr lang="ru-RU" altLang="ru-RU"/>
          </a:p>
        </p:txBody>
      </p:sp>
      <p:sp>
        <p:nvSpPr>
          <p:cNvPr id="57347" name="Номер слайда 5">
            <a:extLst>
              <a:ext uri="{FF2B5EF4-FFF2-40B4-BE49-F238E27FC236}">
                <a16:creationId xmlns:a16="http://schemas.microsoft.com/office/drawing/2014/main" id="{A7175063-6AF0-0026-8B24-85EA23D0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CB5F88-ED9C-4CF4-B5DA-A35CB9D03C11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ED88B24-12F8-2517-6068-557F4510C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400" dirty="0">
                <a:solidFill>
                  <a:srgbClr val="C00000"/>
                </a:solidFill>
              </a:rPr>
              <a:t>Первоначальное накопление капитала во Франции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B615EB83-F2C6-A9FB-D9FC-B9F4E21C67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2000" b="1" dirty="0"/>
              <a:t>Отсутствие политического единства и меркантилизма </a:t>
            </a:r>
          </a:p>
          <a:p>
            <a:pPr eaLnBrk="1" hangingPunct="1">
              <a:defRPr/>
            </a:pPr>
            <a:r>
              <a:rPr lang="ru-RU" sz="2000" b="1" dirty="0"/>
              <a:t>Законодательное закрепление крестьян</a:t>
            </a:r>
          </a:p>
          <a:p>
            <a:pPr eaLnBrk="1" hangingPunct="1">
              <a:buFontTx/>
              <a:buNone/>
              <a:defRPr/>
            </a:pPr>
            <a:r>
              <a:rPr lang="ru-RU" sz="2000" b="1" dirty="0"/>
              <a:t>     барщина, повинности</a:t>
            </a:r>
          </a:p>
          <a:p>
            <a:pPr eaLnBrk="1" hangingPunct="1">
              <a:defRPr/>
            </a:pPr>
            <a:r>
              <a:rPr lang="ru-RU" sz="2000" b="1" dirty="0"/>
              <a:t>Главный источник доходов –различные монополии</a:t>
            </a:r>
          </a:p>
          <a:p>
            <a:pPr eaLnBrk="1" hangingPunct="1">
              <a:defRPr/>
            </a:pPr>
            <a:r>
              <a:rPr lang="ru-RU" sz="2000" b="1" dirty="0"/>
              <a:t>Главная отрасль - земледелие 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ru-RU" sz="2000" b="1" dirty="0"/>
              <a:t> </a:t>
            </a:r>
          </a:p>
          <a:p>
            <a:pPr eaLnBrk="1" hangingPunct="1">
              <a:buFontTx/>
              <a:buNone/>
              <a:defRPr/>
            </a:pPr>
            <a:r>
              <a:rPr lang="ru-RU" sz="2400" b="1" dirty="0"/>
              <a:t>  </a:t>
            </a:r>
          </a:p>
        </p:txBody>
      </p:sp>
      <p:sp>
        <p:nvSpPr>
          <p:cNvPr id="59395" name="Номер слайда 5">
            <a:extLst>
              <a:ext uri="{FF2B5EF4-FFF2-40B4-BE49-F238E27FC236}">
                <a16:creationId xmlns:a16="http://schemas.microsoft.com/office/drawing/2014/main" id="{C656AF64-24C2-EC80-83A3-7D7C80B2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5030FF-06EA-4937-8C1A-29E37B5949A0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F134345-F872-7981-65BD-D7274E571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400" dirty="0">
                <a:solidFill>
                  <a:srgbClr val="C00000"/>
                </a:solidFill>
                <a:effectLst/>
              </a:rPr>
              <a:t>Накопление капитала в Германии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>
            <a:extLst>
              <a:ext uri="{FF2B5EF4-FFF2-40B4-BE49-F238E27FC236}">
                <a16:creationId xmlns:a16="http://schemas.microsoft.com/office/drawing/2014/main" id="{BAC1CA93-2874-F180-B4B2-DBC19F47BA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6477000" cy="4191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Сохранение феодальной собственности на землю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Преобладание внутренней торговли 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Государственные субсидии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Большая роль купечества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Зарождение крестьянской буржуазии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Транзитная торговля, политика меркантилизма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Формирование мобилизационного типа экономики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Укрепление абсолютной монархии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Церковная реформа – полное подчинение государству церкви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«Недвижимая собственность» - слияние вотчины и поместья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Введение новых налогов, единого денежного обращения 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1800" b="1"/>
              <a:t>Распространение крепостного права на промышленность</a:t>
            </a:r>
          </a:p>
          <a:p>
            <a:pPr eaLnBrk="1" hangingPunct="1">
              <a:lnSpc>
                <a:spcPct val="90000"/>
              </a:lnSpc>
            </a:pPr>
            <a:endParaRPr lang="ru-RU" altLang="ru-RU" sz="2000" b="1"/>
          </a:p>
          <a:p>
            <a:pPr eaLnBrk="1" hangingPunct="1">
              <a:lnSpc>
                <a:spcPct val="90000"/>
              </a:lnSpc>
            </a:pPr>
            <a:endParaRPr lang="ru-RU" altLang="ru-RU">
              <a:solidFill>
                <a:srgbClr val="FFFF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ru-RU" altLang="ru-RU"/>
          </a:p>
        </p:txBody>
      </p:sp>
      <p:sp>
        <p:nvSpPr>
          <p:cNvPr id="61443" name="Номер слайда 5">
            <a:extLst>
              <a:ext uri="{FF2B5EF4-FFF2-40B4-BE49-F238E27FC236}">
                <a16:creationId xmlns:a16="http://schemas.microsoft.com/office/drawing/2014/main" id="{BF346625-266F-242F-9888-8CCD24B9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7ECD18-B4DB-46FF-81B8-83981C714EBD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B64D93-8237-8808-2C0F-12DF14D08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Особенности первоначального накопления капитала в России</a:t>
            </a:r>
          </a:p>
        </p:txBody>
      </p:sp>
      <p:pic>
        <p:nvPicPr>
          <p:cNvPr id="61445" name="Picture 7" descr="строительство С-П">
            <a:extLst>
              <a:ext uri="{FF2B5EF4-FFF2-40B4-BE49-F238E27FC236}">
                <a16:creationId xmlns:a16="http://schemas.microsoft.com/office/drawing/2014/main" id="{B2625DCD-B25A-63C3-E559-9603093FC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157288"/>
            <a:ext cx="17145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6" name="Picture 6">
            <a:extLst>
              <a:ext uri="{FF2B5EF4-FFF2-40B4-BE49-F238E27FC236}">
                <a16:creationId xmlns:a16="http://schemas.microsoft.com/office/drawing/2014/main" id="{26E982EE-1F4A-66A9-9330-67FFE5394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909888"/>
            <a:ext cx="1714500" cy="189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Содержимое 2">
            <a:extLst>
              <a:ext uri="{FF2B5EF4-FFF2-40B4-BE49-F238E27FC236}">
                <a16:creationId xmlns:a16="http://schemas.microsoft.com/office/drawing/2014/main" id="{A4BC8046-9E68-0EB7-0386-D3DBC1D21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>
            <a:normAutofit fontScale="85000" lnSpcReduction="20000"/>
          </a:bodyPr>
          <a:lstStyle/>
          <a:p>
            <a:pPr marL="609600" indent="-6096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000" b="1" dirty="0"/>
              <a:t>путем строительства казенных предприятий на государственные деньги</a:t>
            </a:r>
          </a:p>
          <a:p>
            <a:pPr marL="609600" indent="-6096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000" b="1" dirty="0"/>
              <a:t>выявление и мобилизация частных капиталов насильственными административными мерами</a:t>
            </a:r>
          </a:p>
          <a:p>
            <a:pPr marL="609600" indent="-609600" algn="ctr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000" b="1" dirty="0"/>
              <a:t>государство прибегало к экономическим мерам стимулирования</a:t>
            </a:r>
            <a:endParaRPr lang="ru-RU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ru-RU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Виды мануфактур: </a:t>
            </a:r>
          </a:p>
          <a:p>
            <a:pPr marL="0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ru-RU" sz="2000" b="1" dirty="0"/>
              <a:t>казенные</a:t>
            </a:r>
          </a:p>
          <a:p>
            <a:pPr marL="0" indent="0" algn="just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ru-RU" sz="2000" b="1" dirty="0"/>
              <a:t>посессионные – </a:t>
            </a:r>
            <a:r>
              <a:rPr lang="ru-RU" sz="1600" b="1" dirty="0"/>
              <a:t>(лат. </a:t>
            </a:r>
            <a:r>
              <a:rPr lang="en-US" sz="1600" b="1" dirty="0" err="1"/>
              <a:t>possessio</a:t>
            </a:r>
            <a:r>
              <a:rPr lang="en-US" sz="1600" b="1" dirty="0"/>
              <a:t> </a:t>
            </a:r>
            <a:r>
              <a:rPr lang="ru-RU" sz="1600" b="1" dirty="0"/>
              <a:t>-</a:t>
            </a:r>
            <a:r>
              <a:rPr lang="en-US" sz="1600" b="1" dirty="0"/>
              <a:t> </a:t>
            </a:r>
            <a:r>
              <a:rPr lang="ru-RU" sz="1600" b="1" dirty="0"/>
              <a:t>владение) </a:t>
            </a:r>
            <a:r>
              <a:rPr lang="ru-RU" sz="2000" dirty="0"/>
              <a:t>условное владение людьми или землями, предоставленное промышленными предпринимателям России в 18-19 вв. Условность владения заключалась в </a:t>
            </a:r>
            <a:r>
              <a:rPr lang="ru-RU" sz="2000" dirty="0" err="1"/>
              <a:t>неотчуждаемости</a:t>
            </a:r>
            <a:r>
              <a:rPr lang="ru-RU" sz="2000" dirty="0"/>
              <a:t> рабочей силы и земель от данного предприятия.</a:t>
            </a:r>
          </a:p>
          <a:p>
            <a:pPr marL="0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ru-RU" sz="2000" b="1" dirty="0"/>
              <a:t>вотчинные </a:t>
            </a:r>
            <a:r>
              <a:rPr lang="ru-RU" sz="2000" dirty="0"/>
              <a:t>(принадлежавшие дворянам на праве полной собственности) </a:t>
            </a:r>
          </a:p>
          <a:p>
            <a:pPr marL="0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ru-RU" sz="2000" b="1" dirty="0"/>
              <a:t>купеческие</a:t>
            </a:r>
          </a:p>
          <a:p>
            <a:pPr marL="0" indent="0" eaLnBrk="1" fontAlgn="auto" hangingPunct="1"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ru-RU" sz="2000" b="1" dirty="0"/>
              <a:t>крестьянские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ru-RU" sz="1800" b="1" dirty="0"/>
              <a:t>Крепостными были первые три вида, рабочие которых были прикреплены к предприятиям и выполняли "обязательные" работы</a:t>
            </a:r>
            <a:r>
              <a:rPr lang="ru-RU" sz="2000" b="1" dirty="0"/>
              <a:t>.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ru-RU" sz="2000" b="1" dirty="0">
                <a:solidFill>
                  <a:srgbClr val="C00000"/>
                </a:solidFill>
              </a:rPr>
              <a:t>Классификация мануфактур в России</a:t>
            </a:r>
          </a:p>
          <a:p>
            <a:pPr marL="609600" indent="-609600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ru-RU" sz="2000" b="1" dirty="0"/>
              <a:t>По формам собственности – казенные и вотчинные</a:t>
            </a:r>
          </a:p>
          <a:p>
            <a:pPr marL="609600" indent="-609600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ru-RU" sz="2000" b="1" dirty="0"/>
              <a:t>По характеру используемого труда – крепостные, вольнонаемные, смешанные</a:t>
            </a:r>
          </a:p>
          <a:p>
            <a:pPr marL="609600" indent="-609600" eaLnBrk="1" fontAlgn="auto" hangingPunct="1">
              <a:spcAft>
                <a:spcPts val="0"/>
              </a:spcAft>
              <a:buFont typeface="Wingdings" pitchFamily="2" charset="2"/>
              <a:buChar char="v"/>
              <a:defRPr/>
            </a:pPr>
            <a:r>
              <a:rPr lang="ru-RU" sz="2000" b="1" dirty="0"/>
              <a:t>По территориальному  размещению – городские и сельские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ru-RU" sz="2000" b="1" dirty="0"/>
          </a:p>
          <a:p>
            <a:pPr marL="609600" indent="-60960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ru-RU" sz="2000" dirty="0"/>
          </a:p>
        </p:txBody>
      </p:sp>
      <p:sp>
        <p:nvSpPr>
          <p:cNvPr id="63491" name="Номер слайда 3">
            <a:extLst>
              <a:ext uri="{FF2B5EF4-FFF2-40B4-BE49-F238E27FC236}">
                <a16:creationId xmlns:a16="http://schemas.microsoft.com/office/drawing/2014/main" id="{221C551D-FA9C-F194-A064-B616FBB2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9B4322-7F47-41A9-8F6F-BA147F0DC047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32770" name="Заголовок 1">
            <a:extLst>
              <a:ext uri="{FF2B5EF4-FFF2-40B4-BE49-F238E27FC236}">
                <a16:creationId xmlns:a16="http://schemas.microsoft.com/office/drawing/2014/main" id="{599D5C2C-4EFE-D1DE-F095-9A67C35AE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400" dirty="0">
                <a:solidFill>
                  <a:srgbClr val="C00000"/>
                </a:solidFill>
                <a:latin typeface="+mn-lt"/>
              </a:rPr>
              <a:t>Недостаток капиталов в России </a:t>
            </a:r>
            <a:br>
              <a:rPr lang="ru-RU" sz="2400" dirty="0">
                <a:solidFill>
                  <a:srgbClr val="C00000"/>
                </a:solidFill>
                <a:latin typeface="+mn-lt"/>
              </a:rPr>
            </a:br>
            <a:r>
              <a:rPr lang="ru-RU" sz="2400" dirty="0">
                <a:solidFill>
                  <a:srgbClr val="C00000"/>
                </a:solidFill>
                <a:latin typeface="+mn-lt"/>
              </a:rPr>
              <a:t>преодолевался тремя путями: </a:t>
            </a:r>
            <a:br>
              <a:rPr lang="ru-RU" sz="2400" dirty="0">
                <a:solidFill>
                  <a:srgbClr val="C00000"/>
                </a:solidFill>
                <a:latin typeface="+mn-lt"/>
              </a:rPr>
            </a:br>
            <a:endParaRPr lang="ru-RU" sz="2400" dirty="0">
              <a:solidFill>
                <a:srgbClr val="C0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556342CF-7F60-6445-EB9B-F68B33C4DA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305800" cy="5410200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ru-RU" sz="19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Мануфактура</a:t>
            </a:r>
            <a:r>
              <a:rPr lang="ru-RU" sz="1900" b="1" dirty="0">
                <a:solidFill>
                  <a:srgbClr val="C00000"/>
                </a:solidFill>
              </a:rPr>
              <a:t> </a:t>
            </a:r>
            <a:r>
              <a:rPr lang="ru-RU" sz="1900" b="1" dirty="0"/>
              <a:t>- предприятие, основанное на ручном труде, </a:t>
            </a:r>
            <a:r>
              <a:rPr lang="ru-RU" sz="1900" b="1" dirty="0" err="1"/>
              <a:t>разделениии</a:t>
            </a:r>
            <a:r>
              <a:rPr lang="ru-RU" sz="1900" b="1" dirty="0"/>
              <a:t> труда и </a:t>
            </a:r>
            <a:r>
              <a:rPr lang="ru-RU" sz="1900" b="1" dirty="0" err="1"/>
              <a:t>подетальной</a:t>
            </a:r>
            <a:r>
              <a:rPr lang="ru-RU" sz="1900" b="1" dirty="0"/>
              <a:t> специализации, переходная форма производства от простой кооперации к фабрике.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ru-RU" sz="1900" b="1" dirty="0"/>
              <a:t>Улучшаются технические свойства производства, усиливается разделение труда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ru-RU" sz="1900" b="1" dirty="0"/>
              <a:t>Рост профессионализма, улучшение условий труда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ru-RU" sz="1900" b="1" dirty="0"/>
              <a:t>Снижается стоимость и повышается качество продукции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ru-RU" sz="1900" b="1" dirty="0"/>
              <a:t>Влияние нововведений на всю социально-экономическую систему. 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ru-RU" sz="19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Типы мануфактур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ru-RU" sz="1900" b="1" dirty="0"/>
              <a:t>Рассеянная – в традиционных отраслях деревенского ремесла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ru-RU" sz="1900" b="1" dirty="0"/>
              <a:t>Централизованная – в новых отраслях, пользовались привилегиями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ru-RU" sz="1900" b="1" dirty="0"/>
              <a:t>Смешанная – в городах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ru-RU" sz="2000" b="1" dirty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ru-RU" dirty="0">
              <a:solidFill>
                <a:srgbClr val="FFFF00"/>
              </a:solidFill>
            </a:endParaRPr>
          </a:p>
        </p:txBody>
      </p:sp>
      <p:sp>
        <p:nvSpPr>
          <p:cNvPr id="65539" name="Номер слайда 5">
            <a:extLst>
              <a:ext uri="{FF2B5EF4-FFF2-40B4-BE49-F238E27FC236}">
                <a16:creationId xmlns:a16="http://schemas.microsoft.com/office/drawing/2014/main" id="{56588ED1-A49A-4E7B-6B2C-185A5FDB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665F62-3F23-4B70-A0A9-B9A022207483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B450FD66-3B2D-3E15-689F-C8405B1E7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Возникновение мануфактур считается технологической революцией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Объект 1">
            <a:extLst>
              <a:ext uri="{FF2B5EF4-FFF2-40B4-BE49-F238E27FC236}">
                <a16:creationId xmlns:a16="http://schemas.microsoft.com/office/drawing/2014/main" id="{8C44D361-5F93-E7EB-344D-8D8A5A8A6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sz="2000"/>
              <a:t>объединение в одной мастерской ремесленников </a:t>
            </a:r>
            <a:r>
              <a:rPr lang="ru-RU" altLang="ru-RU" sz="2000" u="sng"/>
              <a:t>различных специальностей</a:t>
            </a:r>
            <a:r>
              <a:rPr lang="ru-RU" altLang="ru-RU" sz="2000"/>
              <a:t>, благодаря чему продукт вплоть до его окончательного изготовления производился в одном месте.</a:t>
            </a:r>
          </a:p>
          <a:p>
            <a:r>
              <a:rPr lang="ru-RU" altLang="ru-RU" sz="2000"/>
              <a:t>объединение в общей мастерской ремесленников </a:t>
            </a:r>
            <a:r>
              <a:rPr lang="ru-RU" altLang="ru-RU" sz="2000" u="sng"/>
              <a:t>одной и той же специальности</a:t>
            </a:r>
            <a:r>
              <a:rPr lang="ru-RU" altLang="ru-RU" sz="2000"/>
              <a:t>, каждый из которых выполнял непрерывно одну и ту же отдельную операцию.</a:t>
            </a:r>
          </a:p>
          <a:p>
            <a:endParaRPr lang="ru-RU" altLang="ru-RU" sz="2000"/>
          </a:p>
          <a:p>
            <a:endParaRPr lang="ru-RU" alt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7358CC1-A8E4-D0F4-AE0F-E3F87839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ru-RU" sz="2000" dirty="0">
                <a:solidFill>
                  <a:srgbClr val="C00000"/>
                </a:solidFill>
                <a:effectLst/>
              </a:rPr>
              <a:t>Пути возникновения мануфактур</a:t>
            </a:r>
          </a:p>
        </p:txBody>
      </p:sp>
      <p:sp>
        <p:nvSpPr>
          <p:cNvPr id="67588" name="Номер слайда 3">
            <a:extLst>
              <a:ext uri="{FF2B5EF4-FFF2-40B4-BE49-F238E27FC236}">
                <a16:creationId xmlns:a16="http://schemas.microsoft.com/office/drawing/2014/main" id="{41C48095-7089-552A-F67C-2DEADFB6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EEDD5F-9951-4048-9ED8-43B2B8B06B19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ru-RU" altLang="ru-RU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374F3BAC-5169-172F-866C-BB8212F80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381000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ru-RU" sz="1800" b="1" dirty="0">
                <a:solidFill>
                  <a:srgbClr val="C00000"/>
                </a:solidFill>
              </a:rPr>
              <a:t>Рассеянная мануфактура </a:t>
            </a:r>
            <a:r>
              <a:rPr lang="ru-RU" sz="1800" dirty="0"/>
              <a:t>способ организации производства, когда мануфактурист — владелец капиталов (купец-предприниматель) — раздает сырье для последовательной переработки мелким деревенским ремесленникам. </a:t>
            </a:r>
          </a:p>
          <a:p>
            <a:pPr>
              <a:defRPr/>
            </a:pPr>
            <a:r>
              <a:rPr lang="ru-RU" sz="1800" dirty="0"/>
              <a:t>Этот тип мануфактуры больше всего был распространён в текстильном деле и в тех местах, где не действовали цеховые ограничения. 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ru-RU" sz="1800" dirty="0"/>
              <a:t>	Работниками рассеянной мануфактуры становились деревенские бедняки, которые имели какую-то собственность: дом и крохотный участок земли, но не могли обеспечить свою семью и себя и поэтому искали дополнительные источники существования. 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ru-RU" sz="1800" dirty="0"/>
              <a:t>	Получив сырьё, например, шерсть-сырец, работник перерабатывал его в пряжу. Пряжу забирал мануфактурист и отдавал её на переработку другому работнику, который превращал пряжу в ткань и т. д.</a:t>
            </a:r>
          </a:p>
        </p:txBody>
      </p:sp>
      <p:sp>
        <p:nvSpPr>
          <p:cNvPr id="68611" name="Номер слайда 3">
            <a:extLst>
              <a:ext uri="{FF2B5EF4-FFF2-40B4-BE49-F238E27FC236}">
                <a16:creationId xmlns:a16="http://schemas.microsoft.com/office/drawing/2014/main" id="{58FF72FF-95BB-2616-24D2-50EDE84E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A7537D-9B94-4766-AAF8-446464639DC5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ru-RU" altLang="ru-RU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Объект 1">
            <a:extLst>
              <a:ext uri="{FF2B5EF4-FFF2-40B4-BE49-F238E27FC236}">
                <a16:creationId xmlns:a16="http://schemas.microsoft.com/office/drawing/2014/main" id="{B24847C0-2E67-0C9A-ACAF-1502D70E4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525963"/>
          </a:xfrm>
        </p:spPr>
        <p:txBody>
          <a:bodyPr/>
          <a:lstStyle/>
          <a:p>
            <a:r>
              <a:rPr lang="ru-RU" altLang="ru-RU" sz="2000" b="1">
                <a:solidFill>
                  <a:srgbClr val="C00000"/>
                </a:solidFill>
              </a:rPr>
              <a:t>Централизованная мануфактура </a:t>
            </a:r>
            <a:r>
              <a:rPr lang="ru-RU" altLang="ru-RU" sz="2000"/>
              <a:t>— это способ организации производства, при котором рабочие перерабатывают сырьё вместе, в одном помещении. Этот тип мануфактуры был распространён прежде всего в таких отраслях производства, где технологический процесс предполагал совместный труд большого (от десятка до сотни) числа рабочих, выполняющих различные операции.</a:t>
            </a:r>
          </a:p>
          <a:p>
            <a:r>
              <a:rPr lang="ru-RU" altLang="ru-RU" sz="2000" b="1">
                <a:solidFill>
                  <a:srgbClr val="C00000"/>
                </a:solidFill>
              </a:rPr>
              <a:t>Смешанная мануфактура</a:t>
            </a:r>
            <a:r>
              <a:rPr lang="ru-RU" altLang="ru-RU" sz="2000"/>
              <a:t> производила более сложную продукцию, например, часы. Отдельные детали продукции изготовляли мелкие ремесленники с узкой специализацией, а сборку осуществляли уже в мастерской предпринимателя.</a:t>
            </a:r>
          </a:p>
        </p:txBody>
      </p:sp>
      <p:sp>
        <p:nvSpPr>
          <p:cNvPr id="69635" name="Номер слайда 3">
            <a:extLst>
              <a:ext uri="{FF2B5EF4-FFF2-40B4-BE49-F238E27FC236}">
                <a16:creationId xmlns:a16="http://schemas.microsoft.com/office/drawing/2014/main" id="{24140139-CBD1-1101-A01F-CDD713D2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69ECAC-D2CB-43A1-B955-A61A97C81A60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ru-RU" altLang="ru-RU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>
            <a:extLst>
              <a:ext uri="{FF2B5EF4-FFF2-40B4-BE49-F238E27FC236}">
                <a16:creationId xmlns:a16="http://schemas.microsoft.com/office/drawing/2014/main" id="{55FB8419-A778-D3CF-5EB5-89053EC223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229600" cy="5092700"/>
          </a:xfrm>
        </p:spPr>
        <p:txBody>
          <a:bodyPr/>
          <a:lstStyle/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ru-RU" altLang="ru-RU" sz="1800" b="1"/>
              <a:t>Массовое обесценение капитала в старых отраслях и перелив капитала в новые отрасли</a:t>
            </a:r>
          </a:p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ru-RU" altLang="ru-RU" sz="1800" b="1"/>
              <a:t>Усиление государственного вмешательства </a:t>
            </a:r>
          </a:p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ru-RU" altLang="ru-RU" sz="1800" b="1"/>
              <a:t>Политика протекционизма, а затем односторонний либерализм</a:t>
            </a:r>
          </a:p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ru-RU" altLang="ru-RU" sz="1800" b="1"/>
              <a:t>Развитие торговли и финансовой системы</a:t>
            </a:r>
          </a:p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ru-RU" altLang="ru-RU" sz="1800" b="1"/>
              <a:t>Усиливается специализация торговли – разделение торговых и кредитных операций</a:t>
            </a:r>
          </a:p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ru-RU" altLang="ru-RU" sz="1800" b="1"/>
              <a:t>Специализация торговли по группам товаров</a:t>
            </a:r>
          </a:p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ru-RU" altLang="ru-RU" sz="1800" b="1"/>
              <a:t>Появляются оптовые ярмарки, торговля со складов (аукционы)</a:t>
            </a:r>
          </a:p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ru-RU" altLang="ru-RU" sz="1800" b="1"/>
              <a:t>Развиваются торговые компании, коммерческий кредит (оплата векселями)</a:t>
            </a:r>
          </a:p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ru-RU" altLang="ru-RU" sz="1800" b="1"/>
              <a:t>Развивается рынок ценных бумаг (антверпенская фондовая биржа -от старинного рода Ван дер Бурсе)</a:t>
            </a:r>
          </a:p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ru-RU" altLang="ru-RU" sz="1800" b="1"/>
              <a:t>В  XVI-XVII вв. образуются государственные банки (первый -в Генуе</a:t>
            </a:r>
          </a:p>
          <a:p>
            <a:pPr marL="565150" indent="-457200" eaLnBrk="1" hangingPunct="1">
              <a:buFont typeface="Lucida Sans Unicode" panose="020B0602030504020204" pitchFamily="34" charset="0"/>
              <a:buAutoNum type="arabicPeriod"/>
            </a:pPr>
            <a:endParaRPr lang="ru-RU" altLang="ru-RU" sz="2000" b="1"/>
          </a:p>
        </p:txBody>
      </p:sp>
      <p:sp>
        <p:nvSpPr>
          <p:cNvPr id="70659" name="Номер слайда 5">
            <a:extLst>
              <a:ext uri="{FF2B5EF4-FFF2-40B4-BE49-F238E27FC236}">
                <a16:creationId xmlns:a16="http://schemas.microsoft.com/office/drawing/2014/main" id="{BA23406A-D4B3-4154-DBD1-D7E5A8DB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E2548C-8982-491B-B477-88A8B99EC3D1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B9311E91-9251-10DC-7BF5-9C5FEDD18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200" dirty="0">
                <a:solidFill>
                  <a:srgbClr val="C00000"/>
                </a:solidFill>
              </a:rPr>
              <a:t>Последствия мануфактурного производства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C5EE4AC4-AFDF-C0F7-3D9D-834A7F6FBA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458200" cy="54864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b="1" dirty="0"/>
              <a:t>1609 </a:t>
            </a:r>
            <a:r>
              <a:rPr lang="ru-RU" sz="1800" b="1" dirty="0"/>
              <a:t>– Амстердамский банк</a:t>
            </a:r>
            <a:endParaRPr lang="en-US" sz="1800" b="1" dirty="0"/>
          </a:p>
          <a:p>
            <a:pPr eaLnBrk="1" hangingPunct="1">
              <a:defRPr/>
            </a:pPr>
            <a:r>
              <a:rPr lang="ru-RU" sz="1800" b="1" dirty="0"/>
              <a:t>1694 г. – Английский банк</a:t>
            </a:r>
          </a:p>
          <a:p>
            <a:pPr eaLnBrk="1" hangingPunct="1">
              <a:defRPr/>
            </a:pPr>
            <a:r>
              <a:rPr lang="ru-RU" sz="1800" b="1" dirty="0"/>
              <a:t>1719 г. – Французский Королевский банк</a:t>
            </a:r>
          </a:p>
          <a:p>
            <a:pPr eaLnBrk="1" hangingPunct="1">
              <a:defRPr/>
            </a:pPr>
            <a:r>
              <a:rPr lang="ru-RU" sz="1800" b="1" dirty="0"/>
              <a:t>1754 г. – Купеческий и дворянский банк России</a:t>
            </a:r>
          </a:p>
          <a:p>
            <a:pPr eaLnBrk="1" hangingPunct="1">
              <a:defRPr/>
            </a:pPr>
            <a:r>
              <a:rPr lang="ru-RU" sz="1800" b="1" dirty="0"/>
              <a:t>1860 г. – Государственный банк России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ru-RU" sz="1800" b="1" dirty="0"/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ru-RU" sz="1800" b="1" dirty="0"/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ru-RU" sz="1800" b="1" dirty="0"/>
          </a:p>
          <a:p>
            <a:pPr eaLnBrk="1" hangingPunct="1">
              <a:defRPr/>
            </a:pPr>
            <a:endParaRPr lang="ru-RU" sz="2000" b="1" dirty="0">
              <a:solidFill>
                <a:srgbClr val="FFFF00"/>
              </a:solidFill>
            </a:endParaRPr>
          </a:p>
        </p:txBody>
      </p:sp>
      <p:sp>
        <p:nvSpPr>
          <p:cNvPr id="72707" name="Номер слайда 5">
            <a:extLst>
              <a:ext uri="{FF2B5EF4-FFF2-40B4-BE49-F238E27FC236}">
                <a16:creationId xmlns:a16="http://schemas.microsoft.com/office/drawing/2014/main" id="{0A8AF94C-6BA6-1689-C351-76DF46A5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D8419F-8229-4C06-89A2-C283E29735B8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FBBEBD0-D4EC-E1E6-C32C-320C18A5A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200" dirty="0">
                <a:solidFill>
                  <a:srgbClr val="C00000"/>
                </a:solidFill>
                <a:effectLst/>
              </a:rPr>
              <a:t>Возникновение первых банков</a:t>
            </a:r>
          </a:p>
        </p:txBody>
      </p:sp>
      <p:pic>
        <p:nvPicPr>
          <p:cNvPr id="72709" name="Picture 5" descr="C:\Users\Shermukhamed\Downloads\London.bankofengland.arp.jpg">
            <a:extLst>
              <a:ext uri="{FF2B5EF4-FFF2-40B4-BE49-F238E27FC236}">
                <a16:creationId xmlns:a16="http://schemas.microsoft.com/office/drawing/2014/main" id="{EF95368F-DD7B-91FC-7844-ACAEB949F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590800"/>
            <a:ext cx="2489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0" name="Picture 6" descr="C:\Users\Shermukhamed\Downloads\250px-Saenredam_-_Het_oude_stadhuis_te_Amsterdam (1).jpeg">
            <a:extLst>
              <a:ext uri="{FF2B5EF4-FFF2-40B4-BE49-F238E27FC236}">
                <a16:creationId xmlns:a16="http://schemas.microsoft.com/office/drawing/2014/main" id="{61F00D7D-D714-A504-F7FE-7D7572DB6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8600"/>
            <a:ext cx="2489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1" name="Picture 7" descr="C:\Users\Shermukhamed\Downloads\gb.jpg">
            <a:extLst>
              <a:ext uri="{FF2B5EF4-FFF2-40B4-BE49-F238E27FC236}">
                <a16:creationId xmlns:a16="http://schemas.microsoft.com/office/drawing/2014/main" id="{2B4446C5-E1D0-CD14-1B39-B8AE03421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038600"/>
            <a:ext cx="32766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2" name="Picture 8" descr="C:\Users\Shermukhamed\Downloads\реол.jpeg">
            <a:extLst>
              <a:ext uri="{FF2B5EF4-FFF2-40B4-BE49-F238E27FC236}">
                <a16:creationId xmlns:a16="http://schemas.microsoft.com/office/drawing/2014/main" id="{643689BE-CFF0-BA8F-21A7-1855AE424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4572000"/>
            <a:ext cx="29210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Номер слайда 1">
            <a:extLst>
              <a:ext uri="{FF2B5EF4-FFF2-40B4-BE49-F238E27FC236}">
                <a16:creationId xmlns:a16="http://schemas.microsoft.com/office/drawing/2014/main" id="{197CDD7C-9E47-DBAF-2686-7A140568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D77A9E-775C-45CB-B6A4-236C5C77ED30}" type="slidenum">
              <a:rPr lang="ru-RU" altLang="ru-RU" sz="10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ru-RU" altLang="ru-RU" sz="1000">
              <a:latin typeface="Arial" panose="020B0604020202020204" pitchFamily="34" charset="0"/>
            </a:endParaRPr>
          </a:p>
        </p:txBody>
      </p:sp>
      <p:pic>
        <p:nvPicPr>
          <p:cNvPr id="74755" name="Picture 2" descr="C:\Users\Shermukhamed\Downloads\Scanned at 30-01-2009 17-35 (46)_2.jpg">
            <a:extLst>
              <a:ext uri="{FF2B5EF4-FFF2-40B4-BE49-F238E27FC236}">
                <a16:creationId xmlns:a16="http://schemas.microsoft.com/office/drawing/2014/main" id="{C1A989F5-22D5-ED49-1AD8-54E903CCC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1600200"/>
            <a:ext cx="4648201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544167-329F-7F9B-A9F0-1FCE10CF14AE}"/>
              </a:ext>
            </a:extLst>
          </p:cNvPr>
          <p:cNvSpPr/>
          <p:nvPr/>
        </p:nvSpPr>
        <p:spPr>
          <a:xfrm>
            <a:off x="914400" y="725488"/>
            <a:ext cx="7010400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5125" indent="-255588" algn="ctr" eaLnBrk="1" hangingPunct="1">
              <a:spcBef>
                <a:spcPts val="400"/>
              </a:spcBef>
              <a:buClr>
                <a:srgbClr val="2DA2BF"/>
              </a:buClr>
              <a:buSzPct val="68000"/>
              <a:buFont typeface="Wingdings" pitchFamily="2" charset="2"/>
              <a:buChar char="q"/>
              <a:defRPr/>
            </a:pPr>
            <a:r>
              <a:rPr lang="ru-RU" b="1" dirty="0">
                <a:solidFill>
                  <a:prstClr val="black"/>
                </a:solidFill>
                <a:latin typeface="Lucida Sans Unicode"/>
                <a:cs typeface="+mn-cs"/>
              </a:rPr>
              <a:t>Появляются акционерные компании и биржи  первая в </a:t>
            </a:r>
            <a:r>
              <a:rPr lang="en-US" b="1" dirty="0">
                <a:solidFill>
                  <a:prstClr val="black"/>
                </a:solidFill>
                <a:latin typeface="Lucida Sans Unicode"/>
                <a:cs typeface="+mn-cs"/>
              </a:rPr>
              <a:t>XV</a:t>
            </a:r>
            <a:r>
              <a:rPr lang="ru-RU" b="1" dirty="0">
                <a:solidFill>
                  <a:prstClr val="black"/>
                </a:solidFill>
                <a:latin typeface="Lucida Sans Unicode"/>
                <a:cs typeface="+mn-cs"/>
              </a:rPr>
              <a:t> в. в </a:t>
            </a:r>
            <a:r>
              <a:rPr lang="ru-RU" b="1" dirty="0" err="1">
                <a:solidFill>
                  <a:prstClr val="black"/>
                </a:solidFill>
                <a:latin typeface="Lucida Sans Unicode"/>
                <a:cs typeface="+mn-cs"/>
              </a:rPr>
              <a:t>г.Брюгге</a:t>
            </a:r>
            <a:r>
              <a:rPr lang="ru-RU" b="1" dirty="0">
                <a:solidFill>
                  <a:prstClr val="black"/>
                </a:solidFill>
                <a:latin typeface="Lucida Sans Unicode"/>
                <a:cs typeface="+mn-cs"/>
              </a:rPr>
              <a:t>  затем в Антверпене (1531 г.)</a:t>
            </a:r>
          </a:p>
        </p:txBody>
      </p:sp>
      <p:pic>
        <p:nvPicPr>
          <p:cNvPr id="74757" name="Picture 3">
            <a:extLst>
              <a:ext uri="{FF2B5EF4-FFF2-40B4-BE49-F238E27FC236}">
                <a16:creationId xmlns:a16="http://schemas.microsoft.com/office/drawing/2014/main" id="{9269EDA4-C94B-E681-6F50-6E1CEDA6D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524000"/>
            <a:ext cx="4191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Открытая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Открытая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Открытая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Открытая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1921</TotalTime>
  <Words>1879</Words>
  <Application>Microsoft Office PowerPoint</Application>
  <PresentationFormat>Экран (4:3)</PresentationFormat>
  <Paragraphs>292</Paragraphs>
  <Slides>29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29</vt:i4>
      </vt:variant>
    </vt:vector>
  </HeadingPairs>
  <TitlesOfParts>
    <vt:vector size="41" baseType="lpstr">
      <vt:lpstr>Arial</vt:lpstr>
      <vt:lpstr>Lucida Sans Unicode</vt:lpstr>
      <vt:lpstr>Wingdings 3</vt:lpstr>
      <vt:lpstr>Verdana</vt:lpstr>
      <vt:lpstr>Wingdings 2</vt:lpstr>
      <vt:lpstr>Calibri Light</vt:lpstr>
      <vt:lpstr>Calibri</vt:lpstr>
      <vt:lpstr>Arial Black</vt:lpstr>
      <vt:lpstr>Times New Roman</vt:lpstr>
      <vt:lpstr>Wingdings</vt:lpstr>
      <vt:lpstr>Открытая</vt:lpstr>
      <vt:lpstr>Тема Office</vt:lpstr>
      <vt:lpstr>Ташкентский филиал  Российского экономического университета  имени Г.В. Плеханова Кафедра «Макроэкономическая политика и устойчивое развитие» </vt:lpstr>
      <vt:lpstr>Лекция 3.  Особенности экономического развития европейских стран в эпоху  первоначального накопления капитала и мануфактурного производства  </vt:lpstr>
      <vt:lpstr>Презентация PowerPoint</vt:lpstr>
      <vt:lpstr>  Хронология ВГО      </vt:lpstr>
      <vt:lpstr>Презентация PowerPoint</vt:lpstr>
      <vt:lpstr> Экономические причины великих          географических открытий: </vt:lpstr>
      <vt:lpstr>Социально-экономические последствия ВГО</vt:lpstr>
      <vt:lpstr>Презентация PowerPoint</vt:lpstr>
      <vt:lpstr>Презентация PowerPoint</vt:lpstr>
      <vt:lpstr>2. Сущность первоначального           накопления  капитала </vt:lpstr>
      <vt:lpstr> Условия первоначального накопления капитала</vt:lpstr>
      <vt:lpstr>Методы осуществления первоначального накопление капитала:</vt:lpstr>
      <vt:lpstr>Англия – классическая страна первоначального накопления капитала </vt:lpstr>
      <vt:lpstr>Презентация PowerPoint</vt:lpstr>
      <vt:lpstr>Первоначальное накопление капитала в Англии  XV-XVIII вв.</vt:lpstr>
      <vt:lpstr>Первоначальное накопление капитала  в Голландии в XV в. </vt:lpstr>
      <vt:lpstr>Презентация PowerPoint</vt:lpstr>
      <vt:lpstr>Презентация PowerPoint</vt:lpstr>
      <vt:lpstr>Первоначальное накопление капитала во Франции</vt:lpstr>
      <vt:lpstr>Накопление капитала в Германии</vt:lpstr>
      <vt:lpstr>Особенности первоначального накопления капитала в России</vt:lpstr>
      <vt:lpstr>Недостаток капиталов в России  преодолевался тремя путями:  </vt:lpstr>
      <vt:lpstr>3. Возникновение мануфактур считается технологической революцией</vt:lpstr>
      <vt:lpstr>Пути возникновения мануфактур</vt:lpstr>
      <vt:lpstr>Презентация PowerPoint</vt:lpstr>
      <vt:lpstr>Презентация PowerPoint</vt:lpstr>
      <vt:lpstr>Последствия мануфактурного производства </vt:lpstr>
      <vt:lpstr>Возникновение первых банков</vt:lpstr>
      <vt:lpstr>Презентация PowerPoint</vt:lpstr>
    </vt:vector>
  </TitlesOfParts>
  <Company>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Особенности экономического развития европейских стран в первоначального накопления капитала и мануфактурного производства</dc:title>
  <dc:creator>admin</dc:creator>
  <cp:lastModifiedBy>Rivolk .</cp:lastModifiedBy>
  <cp:revision>171</cp:revision>
  <dcterms:created xsi:type="dcterms:W3CDTF">2011-12-04T05:22:04Z</dcterms:created>
  <dcterms:modified xsi:type="dcterms:W3CDTF">2026-09-26T18:43:25Z</dcterms:modified>
</cp:coreProperties>
</file>