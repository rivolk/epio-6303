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7C3AED"/>
                </a:solidFill>
                <a:latin typeface="Segoe UI"/>
              </a:rPr>
              <a:t>Право · доц. Архангельская Е.Г.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11114"/>
                </a:solidFill>
                <a:latin typeface="Segoe UI"/>
              </a:rPr>
              <a:t>Тема 2. Нормы права. Источники права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76"/>
                </a:solidFill>
                <a:latin typeface="Segoe UI"/>
              </a:rPr>
              <a:t>Демо-презентация: замените настоящей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7C3AED"/>
                </a:solidFill>
                <a:latin typeface="Segoe UI"/>
              </a:rPr>
              <a:t>Норма права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11114"/>
                </a:solidFill>
                <a:latin typeface="Segoe UI"/>
              </a:rPr>
              <a:t>• Общеобязательное, формально определённое правило поведения,</a:t>
            </a:r>
          </a:p>
          <a:p>
            <a:pPr>
              <a:spcBef>
                <a:spcPts val="1400"/>
              </a:spcBef>
            </a:pPr>
            <a:r>
              <a:rPr sz="2200">
                <a:latin typeface="Segoe UI"/>
              </a:rPr>
              <a:t>• установленное или санкционированное государством</a:t>
            </a:r>
          </a:p>
          <a:p>
            <a:pPr>
              <a:spcBef>
                <a:spcPts val="1400"/>
              </a:spcBef>
            </a:pPr>
            <a:r>
              <a:rPr sz="2200">
                <a:latin typeface="Segoe UI"/>
              </a:rPr>
              <a:t>• и обеспеченное его принудительной силой.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6B76"/>
                </a:solidFill>
                <a:latin typeface="Segoe UI"/>
              </a:rPr>
              <a:t>Демо-презентация: замените настоящей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7C3AED"/>
                </a:solidFill>
                <a:latin typeface="Segoe UI"/>
              </a:rPr>
              <a:t>Структура нормы права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11114"/>
                </a:solidFill>
                <a:latin typeface="Segoe UI"/>
              </a:rPr>
              <a:t>• Гипотеза — условия, при которых норма действует.</a:t>
            </a:r>
          </a:p>
          <a:p>
            <a:pPr>
              <a:spcBef>
                <a:spcPts val="1400"/>
              </a:spcBef>
            </a:pPr>
            <a:r>
              <a:rPr sz="2200">
                <a:latin typeface="Segoe UI"/>
              </a:rPr>
              <a:t>• Диспозиция — само правило поведения.</a:t>
            </a:r>
          </a:p>
          <a:p>
            <a:pPr>
              <a:spcBef>
                <a:spcPts val="1400"/>
              </a:spcBef>
            </a:pPr>
            <a:r>
              <a:rPr sz="2200">
                <a:latin typeface="Segoe UI"/>
              </a:rPr>
              <a:t>• Санкция — последствия нарушения правила.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6B76"/>
                </a:solidFill>
                <a:latin typeface="Segoe UI"/>
              </a:rPr>
              <a:t>Демо-презентация: замените настоящей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7C3AED"/>
                </a:solidFill>
                <a:latin typeface="Segoe UI"/>
              </a:rPr>
              <a:t>Источники права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11114"/>
                </a:solidFill>
                <a:latin typeface="Segoe UI"/>
              </a:rPr>
              <a:t>• Нормативный правовой акт — основной источник в правовой системе.</a:t>
            </a:r>
          </a:p>
          <a:p>
            <a:pPr>
              <a:spcBef>
                <a:spcPts val="1400"/>
              </a:spcBef>
            </a:pPr>
            <a:r>
              <a:rPr sz="2200">
                <a:latin typeface="Segoe UI"/>
              </a:rPr>
              <a:t>• Правовой обычай, судебный прецедент, нормативный договор.</a:t>
            </a:r>
          </a:p>
          <a:p>
            <a:pPr>
              <a:spcBef>
                <a:spcPts val="1400"/>
              </a:spcBef>
            </a:pPr>
            <a:r>
              <a:rPr sz="2200">
                <a:latin typeface="Segoe UI"/>
              </a:rPr>
              <a:t>• Общепризнанные принципы и нормы международного права.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6B76"/>
                </a:solidFill>
                <a:latin typeface="Segoe UI"/>
              </a:rPr>
              <a:t>Демо-презентация: замените настоящей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7C3AED"/>
                </a:solidFill>
                <a:latin typeface="Segoe UI"/>
              </a:rPr>
              <a:t>Иерархия нормативных актов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11114"/>
                </a:solidFill>
                <a:latin typeface="Segoe UI"/>
              </a:rPr>
              <a:t>• Конституция → законы → подзаконные акты.</a:t>
            </a:r>
          </a:p>
          <a:p>
            <a:pPr>
              <a:spcBef>
                <a:spcPts val="1400"/>
              </a:spcBef>
            </a:pPr>
            <a:r>
              <a:rPr sz="2200">
                <a:latin typeface="Segoe UI"/>
              </a:rPr>
              <a:t>• Акт меньшей юридической силы не может противоречить большему.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6B76"/>
                </a:solidFill>
                <a:latin typeface="Segoe UI"/>
              </a:rPr>
              <a:t>Демо-презентация: замените настоящей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