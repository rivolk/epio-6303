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563EB"/>
                </a:solidFill>
                <a:latin typeface="Segoe UI"/>
              </a:rPr>
              <a:t>Микроэкономика · ст. преп. Васильева Е.Р.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114"/>
                </a:solidFill>
                <a:latin typeface="Segoe UI"/>
              </a:rPr>
              <a:t>Тема 2. Основные типы экономических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63EB"/>
                </a:solidFill>
                <a:latin typeface="Segoe UI"/>
              </a:rPr>
              <a:t>Что такое экономическая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Совокупность правил и институтов, по которым общество решает три вопроса: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что производить, как производить и для кого производить.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Системы различаются формой собственности и способом координации.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63EB"/>
                </a:solidFill>
                <a:latin typeface="Segoe UI"/>
              </a:rPr>
              <a:t>Традиционная 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Решения определяются обычаями и традициями.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Ручной труд, натуральное хозяйство, медленные изменения.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Сохраняется в отдельных регионах развивающихся стран.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63EB"/>
                </a:solidFill>
                <a:latin typeface="Segoe UI"/>
              </a:rPr>
              <a:t>Командная (плановая) 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Государственная собственность на ресурсы.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Центральное планирование объёмов и цен.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Минусы: дефицит, слабые стимулы к эффективности.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63EB"/>
                </a:solidFill>
                <a:latin typeface="Segoe UI"/>
              </a:rPr>
              <a:t>Рыночная 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Частная собственность и свобода предпринимательства.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Координация через цены, спрос и предложение.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Конкуренция стимулирует эффективность и инновации.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563EB"/>
                </a:solidFill>
                <a:latin typeface="Segoe UI"/>
              </a:rPr>
              <a:t>Смешанная 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4"/>
                </a:solidFill>
                <a:latin typeface="Segoe UI"/>
              </a:rPr>
              <a:t>• Сочетает рыночный механизм и государственное регулирование.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Государство обеспечивает общественные блага и соцзащиту.</a:t>
            </a:r>
          </a:p>
          <a:p>
            <a:pPr>
              <a:spcBef>
                <a:spcPts val="1400"/>
              </a:spcBef>
            </a:pPr>
            <a:r>
              <a:rPr sz="2200">
                <a:latin typeface="Segoe UI"/>
              </a:rPr>
              <a:t>• Характерна для большинства современных стран.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6B76"/>
                </a:solidFill>
                <a:latin typeface="Segoe UI"/>
              </a:rPr>
              <a:t>Демо-презентация: замените настоящей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